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062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1285875"/>
            <a:ext cx="4000500" cy="502909"/>
          </a:xfrm>
          <a:prstGeom prst="rect">
            <a:avLst/>
          </a:prstGeom>
          <a:noFill/>
          <a:ln/>
        </p:spPr>
        <p:txBody>
          <a:bodyPr wrap="none" lIns="0" tIns="0" rIns="0" bIns="0" rtlCol="0" anchor="t">
            <a:spAutoFit/>
          </a:bodyPr>
          <a:lstStyle/>
          <a:p>
            <a:pPr marL="0" indent="0" algn="l">
              <a:lnSpc>
                <a:spcPct val="88000"/>
              </a:lnSpc>
              <a:buNone/>
            </a:pPr>
            <a:r>
              <a:rPr lang="en-US" sz="3300" b="1" dirty="0">
                <a:solidFill>
                  <a:srgbClr val="FFFFFF"/>
                </a:solidFill>
                <a:latin typeface="Playfair Display ExtraBold" pitchFamily="34" charset="0"/>
                <a:ea typeface="Playfair Display ExtraBold" pitchFamily="34" charset="-122"/>
                <a:cs typeface="Playfair Display ExtraBold" pitchFamily="34" charset="-120"/>
              </a:rPr>
              <a:t>SkyLoyal</a:t>
            </a:r>
            <a:endParaRPr lang="en-US" sz="3300" dirty="0"/>
          </a:p>
        </p:txBody>
      </p:sp>
      <p:sp>
        <p:nvSpPr>
          <p:cNvPr id="4" name="Text 1"/>
          <p:cNvSpPr/>
          <p:nvPr/>
        </p:nvSpPr>
        <p:spPr>
          <a:xfrm>
            <a:off x="571500" y="1931659"/>
            <a:ext cx="4000500" cy="557213"/>
          </a:xfrm>
          <a:prstGeom prst="rect">
            <a:avLst/>
          </a:prstGeom>
          <a:noFill/>
          <a:ln/>
        </p:spPr>
        <p:txBody>
          <a:bodyPr wrap="square" lIns="0" tIns="0" rIns="0" bIns="0" rtlCol="0" anchor="t">
            <a:spAutoFit/>
          </a:bodyPr>
          <a:lstStyle/>
          <a:p>
            <a:pPr marL="0" indent="0" algn="l">
              <a:buNone/>
            </a:pPr>
            <a:r>
              <a:rPr lang="en-US" sz="1700" dirty="0">
                <a:solidFill>
                  <a:srgbClr val="EAEAEA"/>
                </a:solidFill>
                <a:latin typeface="Montserrat Light" pitchFamily="34" charset="0"/>
                <a:ea typeface="Montserrat Light" pitchFamily="34" charset="-122"/>
                <a:cs typeface="Montserrat Light" pitchFamily="34" charset="-120"/>
              </a:rPr>
              <a:t>An Agentic AI Platform for Frequent-Flyer Retention</a:t>
            </a:r>
            <a:endParaRPr lang="en-US" sz="1700" dirty="0"/>
          </a:p>
        </p:txBody>
      </p:sp>
      <p:sp>
        <p:nvSpPr>
          <p:cNvPr id="5" name="Text 2"/>
          <p:cNvSpPr/>
          <p:nvPr/>
        </p:nvSpPr>
        <p:spPr>
          <a:xfrm>
            <a:off x="571500" y="4225528"/>
            <a:ext cx="4000500" cy="917972"/>
          </a:xfrm>
          <a:prstGeom prst="rect">
            <a:avLst/>
          </a:prstGeom>
          <a:noFill/>
          <a:ln/>
        </p:spPr>
        <p:txBody>
          <a:bodyPr wrap="square" lIns="0" tIns="0" rIns="0" bIns="680339" rtlCol="0" anchor="t">
            <a:spAutoFit/>
          </a:bodyPr>
          <a:lstStyle/>
          <a:p>
            <a:pPr marL="0" indent="0" algn="l">
              <a:buNone/>
            </a:pPr>
            <a:r>
              <a:rPr lang="en-US" sz="1050" dirty="0">
                <a:solidFill>
                  <a:srgbClr val="D4AF37"/>
                </a:solidFill>
                <a:latin typeface="Montserrat Light" pitchFamily="34" charset="0"/>
                <a:ea typeface="Montserrat Light" pitchFamily="34" charset="-122"/>
                <a:cs typeface="Montserrat Light" pitchFamily="34" charset="-120"/>
              </a:rPr>
              <a:t>Pramithi Raroth Karimpanakkal
April 29, 2026</a:t>
            </a:r>
            <a:endParaRPr lang="en-US" sz="1050" dirty="0"/>
          </a:p>
        </p:txBody>
      </p:sp>
      <p:pic>
        <p:nvPicPr>
          <p:cNvPr id="6" name="Image 1" descr="preencoded.png"/>
          <p:cNvPicPr>
            <a:picLocks noChangeAspect="1"/>
          </p:cNvPicPr>
          <p:nvPr/>
        </p:nvPicPr>
        <p:blipFill>
          <a:blip r:embed="rId4"/>
          <a:stretch>
            <a:fillRect/>
          </a:stretch>
        </p:blipFill>
        <p:spPr>
          <a:xfrm>
            <a:off x="4572000" y="0"/>
            <a:ext cx="4572000" cy="5143500"/>
          </a:xfrm>
          <a:prstGeom prst="rect">
            <a:avLst/>
          </a:prstGeom>
        </p:spPr>
      </p:pic>
      <p:sp>
        <p:nvSpPr>
          <p:cNvPr id="7" name="TextBox 6">
            <a:extLst>
              <a:ext uri="{FF2B5EF4-FFF2-40B4-BE49-F238E27FC236}">
                <a16:creationId xmlns:a16="http://schemas.microsoft.com/office/drawing/2014/main" id="{1FD9C80D-26A6-AF87-A91E-96D4F0B3A361}"/>
              </a:ext>
            </a:extLst>
          </p:cNvPr>
          <p:cNvSpPr txBox="1"/>
          <p:nvPr/>
        </p:nvSpPr>
        <p:spPr>
          <a:xfrm>
            <a:off x="590550" y="473660"/>
            <a:ext cx="3390900" cy="169277"/>
          </a:xfrm>
          <a:prstGeom prst="rect">
            <a:avLst/>
          </a:prstGeom>
          <a:noFill/>
        </p:spPr>
        <p:txBody>
          <a:bodyPr wrap="square" lIns="0" tIns="0" rIns="0" bIns="0" anchor="t">
            <a:spAutoFit/>
          </a:bodyPr>
          <a:lstStyle/>
          <a:p>
            <a:pPr algn="l"/>
            <a:r>
              <a:rPr sz="1100" b="1" dirty="0">
                <a:solidFill>
                  <a:srgbClr val="C8B478"/>
                </a:solidFill>
                <a:latin typeface="Calibri"/>
              </a:rPr>
              <a:t>CEAI - MSCAIBUS1 - NATIONAL COLLEGE OF IRELAND</a:t>
            </a:r>
          </a:p>
        </p:txBody>
      </p:sp>
      <p:sp>
        <p:nvSpPr>
          <p:cNvPr id="8" name="TextBox 7">
            <a:extLst>
              <a:ext uri="{FF2B5EF4-FFF2-40B4-BE49-F238E27FC236}">
                <a16:creationId xmlns:a16="http://schemas.microsoft.com/office/drawing/2014/main" id="{BB8AEE5B-DA8F-484C-6E83-E47E909C4FD8}"/>
              </a:ext>
            </a:extLst>
          </p:cNvPr>
          <p:cNvSpPr txBox="1"/>
          <p:nvPr/>
        </p:nvSpPr>
        <p:spPr>
          <a:xfrm>
            <a:off x="590550" y="4684514"/>
            <a:ext cx="7315200" cy="365760"/>
          </a:xfrm>
          <a:prstGeom prst="rect">
            <a:avLst/>
          </a:prstGeom>
          <a:noFill/>
        </p:spPr>
        <p:txBody>
          <a:bodyPr wrap="square" lIns="0" tIns="0" rIns="0" bIns="0" anchor="t">
            <a:spAutoFit/>
          </a:bodyPr>
          <a:lstStyle/>
          <a:p>
            <a:pPr algn="l"/>
            <a:r>
              <a:rPr sz="1000" b="0" dirty="0">
                <a:solidFill>
                  <a:srgbClr val="C8B478"/>
                </a:solidFill>
                <a:latin typeface="Calibri"/>
              </a:rPr>
              <a:t>Live prototype: pramithirks-dev.github.io/skyloyal/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6680" y="166236"/>
            <a:ext cx="9144000" cy="5143500"/>
          </a:xfrm>
          <a:prstGeom prst="rect">
            <a:avLst/>
          </a:prstGeom>
        </p:spPr>
      </p:pic>
      <p:sp>
        <p:nvSpPr>
          <p:cNvPr id="3" name="Text 0"/>
          <p:cNvSpPr/>
          <p:nvPr/>
        </p:nvSpPr>
        <p:spPr>
          <a:xfrm>
            <a:off x="571500" y="428625"/>
            <a:ext cx="8572500" cy="377026"/>
          </a:xfrm>
          <a:prstGeom prst="rect">
            <a:avLst/>
          </a:prstGeom>
          <a:noFill/>
          <a:ln/>
        </p:spPr>
        <p:txBody>
          <a:bodyPr wrap="square" lIns="0" tIns="0" rIns="0" bIns="0" rtlCol="0" anchor="t">
            <a:spAutoFit/>
          </a:bodyPr>
          <a:lstStyle/>
          <a:p>
            <a:pPr marL="0" indent="0" algn="l">
              <a:buNone/>
            </a:pPr>
            <a:r>
              <a:rPr lang="en-US" sz="2450" b="1" dirty="0">
                <a:solidFill>
                  <a:srgbClr val="D4AF37"/>
                </a:solidFill>
                <a:latin typeface="Playfair Display ExtraBold" pitchFamily="34" charset="0"/>
                <a:ea typeface="Playfair Display ExtraBold" pitchFamily="34" charset="-122"/>
                <a:cs typeface="Playfair Display ExtraBold" pitchFamily="34" charset="-120"/>
              </a:rPr>
              <a:t>Organisation: SkyJet Airways</a:t>
            </a:r>
            <a:endParaRPr lang="en-US" sz="2450" dirty="0"/>
          </a:p>
        </p:txBody>
      </p:sp>
      <p:sp>
        <p:nvSpPr>
          <p:cNvPr id="4" name="Text 1"/>
          <p:cNvSpPr/>
          <p:nvPr/>
        </p:nvSpPr>
        <p:spPr>
          <a:xfrm>
            <a:off x="571500" y="1400175"/>
            <a:ext cx="3786188" cy="215444"/>
          </a:xfrm>
          <a:prstGeom prst="rect">
            <a:avLst/>
          </a:prstGeom>
          <a:noFill/>
          <a:ln/>
        </p:spPr>
        <p:txBody>
          <a:bodyPr wrap="square" lIns="0" tIns="0" rIns="0" bIns="0" rtlCol="0" anchor="t">
            <a:spAutoFit/>
          </a:bodyPr>
          <a:lstStyle/>
          <a:p>
            <a:pPr marL="0" indent="0" algn="l">
              <a:buNone/>
            </a:pPr>
            <a:r>
              <a:rPr lang="en-US" sz="1400" b="1" dirty="0">
                <a:solidFill>
                  <a:srgbClr val="D4AF37"/>
                </a:solidFill>
                <a:latin typeface="Playfair Display ExtraBold" pitchFamily="34" charset="0"/>
                <a:ea typeface="Playfair Display ExtraBold" pitchFamily="34" charset="-122"/>
                <a:cs typeface="Playfair Display ExtraBold" pitchFamily="34" charset="-120"/>
              </a:rPr>
              <a:t>SkyJet Airways &amp; SkyLoyal Loyalty Programme</a:t>
            </a:r>
            <a:endParaRPr lang="en-US" sz="1400" dirty="0"/>
          </a:p>
        </p:txBody>
      </p:sp>
      <p:sp>
        <p:nvSpPr>
          <p:cNvPr id="5" name="Text 2"/>
          <p:cNvSpPr/>
          <p:nvPr/>
        </p:nvSpPr>
        <p:spPr>
          <a:xfrm>
            <a:off x="571500" y="1878384"/>
            <a:ext cx="3786188" cy="1480213"/>
          </a:xfrm>
          <a:prstGeom prst="rect">
            <a:avLst/>
          </a:prstGeom>
          <a:noFill/>
          <a:ln/>
        </p:spPr>
        <p:txBody>
          <a:bodyPr wrap="square" lIns="0" tIns="0" rIns="0" bIns="0" rtlCol="0" anchor="t">
            <a:spAutoFit/>
          </a:bodyPr>
          <a:lstStyle/>
          <a:p>
            <a:pPr>
              <a:lnSpc>
                <a:spcPct val="128000"/>
              </a:lnSpc>
            </a:pPr>
            <a:r>
              <a:rPr lang="en-US" sz="950" dirty="0">
                <a:solidFill>
                  <a:srgbClr val="EAEAEA"/>
                </a:solidFill>
                <a:latin typeface="Montserrat Light" pitchFamily="34" charset="0"/>
                <a:ea typeface="Montserrat Light" pitchFamily="34" charset="-122"/>
                <a:cs typeface="Montserrat Light" pitchFamily="34" charset="-120"/>
              </a:rPr>
              <a:t>SkyJet Airways is a premium European carrier. This is a </a:t>
            </a:r>
            <a:r>
              <a:rPr lang="en-US" sz="950" dirty="0">
                <a:solidFill>
                  <a:srgbClr val="EAEAEA"/>
                </a:solidFill>
                <a:latin typeface="Montserrat Light" pitchFamily="34" charset="0"/>
              </a:rPr>
              <a:t> fictional Ireland hubbed network carrier. SkyLoyal is its loyalty programme. It has mid-size network with 9.4M members across 78 destinations with hubs in Dublin, Amsterdam, Madrid. </a:t>
            </a:r>
            <a:r>
              <a:rPr lang="en-US" sz="950" dirty="0">
                <a:solidFill>
                  <a:srgbClr val="EAEAEA"/>
                </a:solidFill>
                <a:latin typeface="Montserrat Light" pitchFamily="34" charset="0"/>
                <a:ea typeface="Montserrat Light" pitchFamily="34" charset="-122"/>
                <a:cs typeface="Montserrat Light" pitchFamily="34" charset="-120"/>
              </a:rPr>
              <a:t>SkyLoyal is now going towards a specialized agentic AI platform designed to transform frequent-flyer retention through Octalysis-driven interventions.</a:t>
            </a:r>
          </a:p>
          <a:p>
            <a:pPr>
              <a:lnSpc>
                <a:spcPct val="128000"/>
              </a:lnSpc>
            </a:pPr>
            <a:endParaRPr lang="en-US" sz="950" dirty="0">
              <a:solidFill>
                <a:srgbClr val="EAEAEA"/>
              </a:solidFill>
              <a:latin typeface="Montserrat Light" pitchFamily="34" charset="0"/>
            </a:endParaRPr>
          </a:p>
        </p:txBody>
      </p:sp>
      <p:sp>
        <p:nvSpPr>
          <p:cNvPr id="6" name="Text 3"/>
          <p:cNvSpPr/>
          <p:nvPr/>
        </p:nvSpPr>
        <p:spPr>
          <a:xfrm>
            <a:off x="5143500" y="423809"/>
            <a:ext cx="3786188" cy="121444"/>
          </a:xfrm>
          <a:prstGeom prst="rect">
            <a:avLst/>
          </a:prstGeom>
          <a:noFill/>
          <a:ln/>
        </p:spPr>
        <p:txBody>
          <a:bodyPr wrap="square" lIns="0" tIns="0" rIns="0" bIns="0" rtlCol="0" anchor="t">
            <a:spAutoFit/>
          </a:bodyPr>
          <a:lstStyle/>
          <a:p>
            <a:pPr marL="0" indent="0" algn="l">
              <a:buNone/>
            </a:pPr>
            <a:r>
              <a:rPr lang="en-US" sz="700" b="1" kern="0" spc="1" dirty="0">
                <a:solidFill>
                  <a:srgbClr val="FFFFFF"/>
                </a:solidFill>
                <a:latin typeface="Montserrat Bold" pitchFamily="34" charset="0"/>
                <a:ea typeface="Montserrat Bold" pitchFamily="34" charset="-122"/>
                <a:cs typeface="Montserrat Bold" pitchFamily="34" charset="-120"/>
              </a:rPr>
              <a:t>AIRLINE WEBSITE:</a:t>
            </a:r>
            <a:endParaRPr lang="en-US" sz="700" dirty="0"/>
          </a:p>
        </p:txBody>
      </p:sp>
      <p:sp>
        <p:nvSpPr>
          <p:cNvPr id="7" name="Text 4"/>
          <p:cNvSpPr/>
          <p:nvPr/>
        </p:nvSpPr>
        <p:spPr>
          <a:xfrm>
            <a:off x="5143500" y="620026"/>
            <a:ext cx="3786188" cy="123111"/>
          </a:xfrm>
          <a:prstGeom prst="rect">
            <a:avLst/>
          </a:prstGeom>
          <a:noFill/>
          <a:ln/>
        </p:spPr>
        <p:txBody>
          <a:bodyPr wrap="square" lIns="0" tIns="0" rIns="0" bIns="0" rtlCol="0" anchor="t">
            <a:spAutoFit/>
          </a:bodyPr>
          <a:lstStyle/>
          <a:p>
            <a:pPr marL="0" indent="0" algn="l">
              <a:buNone/>
            </a:pPr>
            <a:r>
              <a:rPr lang="en-US" sz="800" b="1" u="sng" dirty="0">
                <a:solidFill>
                  <a:srgbClr val="D4AF37"/>
                </a:solidFill>
                <a:uFill>
                  <a:solidFill>
                    <a:srgbClr val="D4AF37"/>
                  </a:solidFill>
                </a:uFill>
                <a:latin typeface="Courier New" pitchFamily="34" charset="0"/>
                <a:ea typeface="Courier New" pitchFamily="34" charset="-122"/>
                <a:cs typeface="Courier New" pitchFamily="34" charset="-120"/>
              </a:rPr>
              <a:t>https://pramithirks-dev.github.io/skyloyal/skyjet.html</a:t>
            </a:r>
            <a:endParaRPr lang="en-US" sz="800" dirty="0"/>
          </a:p>
        </p:txBody>
      </p:sp>
      <p:sp>
        <p:nvSpPr>
          <p:cNvPr id="8" name="Text 5"/>
          <p:cNvSpPr/>
          <p:nvPr/>
        </p:nvSpPr>
        <p:spPr>
          <a:xfrm>
            <a:off x="5143500" y="845581"/>
            <a:ext cx="3786188" cy="121444"/>
          </a:xfrm>
          <a:prstGeom prst="rect">
            <a:avLst/>
          </a:prstGeom>
          <a:noFill/>
          <a:ln/>
        </p:spPr>
        <p:txBody>
          <a:bodyPr wrap="square" lIns="0" tIns="0" rIns="0" bIns="0" rtlCol="0" anchor="t">
            <a:spAutoFit/>
          </a:bodyPr>
          <a:lstStyle/>
          <a:p>
            <a:pPr marL="0" indent="0" algn="l">
              <a:buNone/>
            </a:pPr>
            <a:r>
              <a:rPr lang="en-US" sz="700" b="1" kern="0" spc="1" dirty="0">
                <a:solidFill>
                  <a:srgbClr val="FFFFFF"/>
                </a:solidFill>
                <a:latin typeface="Montserrat Bold" pitchFamily="34" charset="0"/>
                <a:ea typeface="Montserrat Bold" pitchFamily="34" charset="-122"/>
                <a:cs typeface="Montserrat Bold" pitchFamily="34" charset="-120"/>
              </a:rPr>
              <a:t>LOYALTY PROGRAM:</a:t>
            </a:r>
            <a:endParaRPr lang="en-US" sz="700" dirty="0"/>
          </a:p>
        </p:txBody>
      </p:sp>
      <p:sp>
        <p:nvSpPr>
          <p:cNvPr id="9" name="Text 6"/>
          <p:cNvSpPr/>
          <p:nvPr/>
        </p:nvSpPr>
        <p:spPr>
          <a:xfrm>
            <a:off x="5143500" y="970576"/>
            <a:ext cx="3786188" cy="123111"/>
          </a:xfrm>
          <a:prstGeom prst="rect">
            <a:avLst/>
          </a:prstGeom>
          <a:noFill/>
          <a:ln/>
        </p:spPr>
        <p:txBody>
          <a:bodyPr wrap="square" lIns="0" tIns="0" rIns="0" bIns="0" rtlCol="0" anchor="t">
            <a:spAutoFit/>
          </a:bodyPr>
          <a:lstStyle/>
          <a:p>
            <a:pPr marL="0" indent="0" algn="l">
              <a:buNone/>
            </a:pPr>
            <a:r>
              <a:rPr lang="en-US" sz="800" b="1" u="sng" dirty="0">
                <a:solidFill>
                  <a:srgbClr val="D4AF37"/>
                </a:solidFill>
                <a:uFill>
                  <a:solidFill>
                    <a:srgbClr val="D4AF37"/>
                  </a:solidFill>
                </a:uFill>
                <a:latin typeface="Courier New" pitchFamily="34" charset="0"/>
                <a:ea typeface="Courier New" pitchFamily="34" charset="-122"/>
                <a:cs typeface="Courier New" pitchFamily="34" charset="-120"/>
              </a:rPr>
              <a:t>https://pramithirks-dev.github.io/skyloyal/</a:t>
            </a:r>
            <a:endParaRPr lang="en-US" sz="800" dirty="0"/>
          </a:p>
        </p:txBody>
      </p:sp>
      <p:sp>
        <p:nvSpPr>
          <p:cNvPr id="10" name="Text 7"/>
          <p:cNvSpPr/>
          <p:nvPr/>
        </p:nvSpPr>
        <p:spPr>
          <a:xfrm>
            <a:off x="4786313" y="1400175"/>
            <a:ext cx="3786188" cy="266105"/>
          </a:xfrm>
          <a:prstGeom prst="rect">
            <a:avLst/>
          </a:prstGeom>
          <a:noFill/>
          <a:ln/>
        </p:spPr>
        <p:txBody>
          <a:bodyPr wrap="square" lIns="0" tIns="0" rIns="0" bIns="0" rtlCol="0" anchor="t">
            <a:spAutoFit/>
          </a:bodyPr>
          <a:lstStyle/>
          <a:p>
            <a:pPr marL="0" indent="0" algn="l">
              <a:buNone/>
            </a:pPr>
            <a:r>
              <a:rPr lang="en-US" sz="1400" b="1" dirty="0">
                <a:solidFill>
                  <a:srgbClr val="D4AF37"/>
                </a:solidFill>
                <a:latin typeface="Playfair Display ExtraBold" pitchFamily="34" charset="0"/>
                <a:ea typeface="Playfair Display ExtraBold" pitchFamily="34" charset="-122"/>
                <a:cs typeface="Playfair Display ExtraBold" pitchFamily="34" charset="-120"/>
              </a:rPr>
              <a:t>The Business Challenge</a:t>
            </a:r>
            <a:endParaRPr lang="en-US" sz="1400" dirty="0"/>
          </a:p>
        </p:txBody>
      </p:sp>
      <p:sp>
        <p:nvSpPr>
          <p:cNvPr id="11" name="Text 8"/>
          <p:cNvSpPr/>
          <p:nvPr/>
        </p:nvSpPr>
        <p:spPr>
          <a:xfrm>
            <a:off x="4786313" y="1773436"/>
            <a:ext cx="3786188" cy="1293111"/>
          </a:xfrm>
          <a:prstGeom prst="rect">
            <a:avLst/>
          </a:prstGeom>
          <a:noFill/>
          <a:ln/>
        </p:spPr>
        <p:txBody>
          <a:bodyPr wrap="square" lIns="0" tIns="0" rIns="0" bIns="0" rtlCol="0" anchor="t">
            <a:spAutoFit/>
          </a:bodyPr>
          <a:lstStyle/>
          <a:p>
            <a:pPr>
              <a:lnSpc>
                <a:spcPct val="128000"/>
              </a:lnSpc>
            </a:pPr>
            <a:r>
              <a:rPr lang="en-US" sz="950" dirty="0">
                <a:solidFill>
                  <a:srgbClr val="EAEAEA"/>
                </a:solidFill>
                <a:latin typeface="Montserrat Light" pitchFamily="34" charset="0"/>
              </a:rPr>
              <a:t>SkyJet Airways loses 23% of its Gold-tier and 17% of its Silver-tier frequent flyers to silent disengagement every year, flyers who do not formally leave the programme but migrate spend to alliance partners, low-cost carriers, or competitor programmes. The commercial impact is estimated at €42m annually in forgone premium-cabin and ancillary revenue, dwarfing the cost of any retention intervention.</a:t>
            </a:r>
          </a:p>
        </p:txBody>
      </p:sp>
      <p:sp>
        <p:nvSpPr>
          <p:cNvPr id="12" name="Shape 9"/>
          <p:cNvSpPr/>
          <p:nvPr/>
        </p:nvSpPr>
        <p:spPr>
          <a:xfrm>
            <a:off x="4857750" y="3366664"/>
            <a:ext cx="3786188" cy="1300163"/>
          </a:xfrm>
          <a:prstGeom prst="rect">
            <a:avLst/>
          </a:prstGeom>
          <a:solidFill>
            <a:srgbClr val="D4AF37">
              <a:alpha val="10000"/>
            </a:srgbClr>
          </a:solidFill>
          <a:ln/>
        </p:spPr>
        <p:txBody>
          <a:bodyPr/>
          <a:lstStyle/>
          <a:p>
            <a:endParaRPr lang="en-US"/>
          </a:p>
        </p:txBody>
      </p:sp>
      <p:sp>
        <p:nvSpPr>
          <p:cNvPr id="13" name="Shape 10"/>
          <p:cNvSpPr/>
          <p:nvPr/>
        </p:nvSpPr>
        <p:spPr>
          <a:xfrm>
            <a:off x="4739878" y="3366665"/>
            <a:ext cx="28575" cy="1300163"/>
          </a:xfrm>
          <a:prstGeom prst="rect">
            <a:avLst/>
          </a:prstGeom>
          <a:solidFill>
            <a:srgbClr val="D4AF37"/>
          </a:solidFill>
          <a:ln/>
        </p:spPr>
        <p:txBody>
          <a:bodyPr/>
          <a:lstStyle/>
          <a:p>
            <a:endParaRPr lang="en-US"/>
          </a:p>
        </p:txBody>
      </p:sp>
      <p:sp>
        <p:nvSpPr>
          <p:cNvPr id="14" name="Text 11"/>
          <p:cNvSpPr/>
          <p:nvPr/>
        </p:nvSpPr>
        <p:spPr>
          <a:xfrm>
            <a:off x="5143500" y="3894349"/>
            <a:ext cx="3429000" cy="278606"/>
          </a:xfrm>
          <a:prstGeom prst="rect">
            <a:avLst/>
          </a:prstGeom>
          <a:noFill/>
          <a:ln/>
        </p:spPr>
        <p:txBody>
          <a:bodyPr wrap="square" lIns="0" tIns="0" rIns="0" bIns="0" rtlCol="0" anchor="t">
            <a:spAutoFit/>
          </a:bodyPr>
          <a:lstStyle/>
          <a:p>
            <a:pPr marL="0" indent="0" algn="l">
              <a:buNone/>
            </a:pPr>
            <a:r>
              <a:rPr lang="en-US" sz="1600" b="1" dirty="0">
                <a:solidFill>
                  <a:srgbClr val="D4AF37"/>
                </a:solidFill>
                <a:latin typeface="Montserrat Bold" pitchFamily="34" charset="0"/>
                <a:ea typeface="Montserrat Bold" pitchFamily="34" charset="-122"/>
                <a:cs typeface="Montserrat Bold" pitchFamily="34" charset="-120"/>
              </a:rPr>
              <a:t>€42,000,000</a:t>
            </a:r>
            <a:endParaRPr lang="en-US" sz="1600" dirty="0"/>
          </a:p>
        </p:txBody>
      </p:sp>
      <p:sp>
        <p:nvSpPr>
          <p:cNvPr id="15" name="Text 12"/>
          <p:cNvSpPr/>
          <p:nvPr/>
        </p:nvSpPr>
        <p:spPr>
          <a:xfrm>
            <a:off x="4911566" y="4197422"/>
            <a:ext cx="3429000" cy="246221"/>
          </a:xfrm>
          <a:prstGeom prst="rect">
            <a:avLst/>
          </a:prstGeom>
          <a:noFill/>
          <a:ln/>
        </p:spPr>
        <p:txBody>
          <a:bodyPr wrap="square" lIns="0" tIns="0" rIns="0" bIns="0" rtlCol="0" anchor="t">
            <a:spAutoFit/>
          </a:bodyPr>
          <a:lstStyle/>
          <a:p>
            <a:pPr marL="0" indent="0" algn="l">
              <a:buNone/>
            </a:pPr>
            <a:r>
              <a:rPr lang="en-US" sz="1600" b="1" dirty="0">
                <a:solidFill>
                  <a:srgbClr val="D4AF37"/>
                </a:solidFill>
                <a:latin typeface="Montserrat Bold" pitchFamily="34" charset="0"/>
                <a:ea typeface="Montserrat Bold" pitchFamily="34" charset="-122"/>
                <a:cs typeface="Montserrat Bold" pitchFamily="34" charset="-120"/>
              </a:rPr>
              <a:t>Annual Revenue Loss</a:t>
            </a:r>
            <a:endParaRPr lang="en-US" sz="1600" dirty="0"/>
          </a:p>
        </p:txBody>
      </p:sp>
      <p:sp>
        <p:nvSpPr>
          <p:cNvPr id="16" name="Text 13"/>
          <p:cNvSpPr/>
          <p:nvPr/>
        </p:nvSpPr>
        <p:spPr>
          <a:xfrm>
            <a:off x="4964906" y="3570039"/>
            <a:ext cx="3429000" cy="246221"/>
          </a:xfrm>
          <a:prstGeom prst="rect">
            <a:avLst/>
          </a:prstGeom>
          <a:noFill/>
          <a:ln/>
        </p:spPr>
        <p:txBody>
          <a:bodyPr wrap="square" lIns="0" tIns="0" rIns="0" bIns="0" rtlCol="0" anchor="t">
            <a:spAutoFit/>
          </a:bodyPr>
          <a:lstStyle/>
          <a:p>
            <a:pPr marL="0" indent="0" algn="l">
              <a:buNone/>
            </a:pPr>
            <a:r>
              <a:rPr lang="en-US" sz="1600" b="1" dirty="0">
                <a:solidFill>
                  <a:srgbClr val="D4AF37"/>
                </a:solidFill>
                <a:latin typeface="Montserrat Bold" pitchFamily="34" charset="0"/>
                <a:ea typeface="Montserrat Bold" pitchFamily="34" charset="-122"/>
                <a:cs typeface="Montserrat Bold" pitchFamily="34" charset="-120"/>
              </a:rPr>
              <a:t>SkyJet Silent Churn</a:t>
            </a:r>
            <a:endParaRPr lang="en-US" sz="1600" dirty="0"/>
          </a:p>
        </p:txBody>
      </p:sp>
      <p:sp>
        <p:nvSpPr>
          <p:cNvPr id="17" name="Text 14"/>
          <p:cNvSpPr/>
          <p:nvPr/>
        </p:nvSpPr>
        <p:spPr>
          <a:xfrm>
            <a:off x="4857750" y="4803694"/>
            <a:ext cx="3175549" cy="154017"/>
          </a:xfrm>
          <a:prstGeom prst="rect">
            <a:avLst/>
          </a:prstGeom>
          <a:noFill/>
          <a:ln/>
        </p:spPr>
        <p:txBody>
          <a:bodyPr wrap="none" lIns="0" tIns="0" rIns="0" bIns="0" rtlCol="0" anchor="t">
            <a:spAutoFit/>
          </a:bodyPr>
          <a:lstStyle/>
          <a:p>
            <a:pPr marL="0" indent="0" algn="l">
              <a:lnSpc>
                <a:spcPct val="128000"/>
              </a:lnSpc>
              <a:buNone/>
            </a:pPr>
            <a:r>
              <a:rPr lang="en-US" sz="850" i="1" dirty="0">
                <a:solidFill>
                  <a:srgbClr val="EAEAEA"/>
                </a:solidFill>
                <a:latin typeface="Montserrat" pitchFamily="34" charset="0"/>
                <a:ea typeface="Montserrat" pitchFamily="34" charset="-122"/>
                <a:cs typeface="Montserrat" pitchFamily="34" charset="-120"/>
              </a:rPr>
              <a:t>Source: Researcher Agent Analysis (01-research-brief.md)</a:t>
            </a:r>
            <a:endParaRPr lang="en-US" sz="850" dirty="0"/>
          </a:p>
        </p:txBody>
      </p:sp>
      <p:sp>
        <p:nvSpPr>
          <p:cNvPr id="19" name="Text 7">
            <a:extLst>
              <a:ext uri="{FF2B5EF4-FFF2-40B4-BE49-F238E27FC236}">
                <a16:creationId xmlns:a16="http://schemas.microsoft.com/office/drawing/2014/main" id="{35AA2767-4592-339F-CADF-5DE5487F5917}"/>
              </a:ext>
            </a:extLst>
          </p:cNvPr>
          <p:cNvSpPr/>
          <p:nvPr/>
        </p:nvSpPr>
        <p:spPr>
          <a:xfrm>
            <a:off x="589121" y="3366664"/>
            <a:ext cx="3786188" cy="215444"/>
          </a:xfrm>
          <a:prstGeom prst="rect">
            <a:avLst/>
          </a:prstGeom>
          <a:noFill/>
          <a:ln/>
        </p:spPr>
        <p:txBody>
          <a:bodyPr wrap="square" lIns="0" tIns="0" rIns="0" bIns="0" rtlCol="0" anchor="t">
            <a:spAutoFit/>
          </a:bodyPr>
          <a:lstStyle/>
          <a:p>
            <a:pPr marL="0" indent="0" algn="l">
              <a:buNone/>
            </a:pPr>
            <a:r>
              <a:rPr lang="en-US" sz="1400" b="1" dirty="0">
                <a:solidFill>
                  <a:srgbClr val="D4AF37"/>
                </a:solidFill>
                <a:latin typeface="Playfair Display ExtraBold" pitchFamily="34" charset="0"/>
                <a:ea typeface="Playfair Display ExtraBold" pitchFamily="34" charset="-122"/>
                <a:cs typeface="Playfair Display ExtraBold" pitchFamily="34" charset="-120"/>
              </a:rPr>
              <a:t>Industry Picture</a:t>
            </a:r>
            <a:endParaRPr lang="en-US" sz="1400" dirty="0"/>
          </a:p>
        </p:txBody>
      </p:sp>
      <p:sp>
        <p:nvSpPr>
          <p:cNvPr id="20" name="Text 2">
            <a:extLst>
              <a:ext uri="{FF2B5EF4-FFF2-40B4-BE49-F238E27FC236}">
                <a16:creationId xmlns:a16="http://schemas.microsoft.com/office/drawing/2014/main" id="{2A48FBFA-433A-280A-F29D-C44A00947080}"/>
              </a:ext>
            </a:extLst>
          </p:cNvPr>
          <p:cNvSpPr/>
          <p:nvPr/>
        </p:nvSpPr>
        <p:spPr>
          <a:xfrm>
            <a:off x="589120" y="3625783"/>
            <a:ext cx="3936681" cy="1293111"/>
          </a:xfrm>
          <a:prstGeom prst="rect">
            <a:avLst/>
          </a:prstGeom>
          <a:noFill/>
          <a:ln/>
        </p:spPr>
        <p:txBody>
          <a:bodyPr wrap="square" lIns="0" tIns="0" rIns="0" bIns="0" rtlCol="0" anchor="t">
            <a:spAutoFit/>
          </a:bodyPr>
          <a:lstStyle/>
          <a:p>
            <a:pPr>
              <a:lnSpc>
                <a:spcPct val="128000"/>
              </a:lnSpc>
            </a:pPr>
            <a:r>
              <a:rPr lang="en-US" sz="950" dirty="0">
                <a:solidFill>
                  <a:srgbClr val="EAEAEA"/>
                </a:solidFill>
                <a:latin typeface="Montserrat Light" pitchFamily="34" charset="0"/>
              </a:rPr>
              <a:t>The global airline loyalty market was worth approximately €190bn in programme-earned revenue in 2025, with the top-tier 5% of members driving 40–60% of loyalty revenue at most major carriers. Churn in FFP context is almost never expressed as cancellation, it is silent disengagement, where the member retains the account but migrates flying to a competitor, a partner, or a low-cost alternative.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616"/>
            <a:ext cx="9144000" cy="5143500"/>
          </a:xfrm>
          <a:prstGeom prst="rect">
            <a:avLst/>
          </a:prstGeom>
        </p:spPr>
      </p:pic>
      <p:sp>
        <p:nvSpPr>
          <p:cNvPr id="3" name="Text 0"/>
          <p:cNvSpPr/>
          <p:nvPr/>
        </p:nvSpPr>
        <p:spPr>
          <a:xfrm>
            <a:off x="571500" y="571500"/>
            <a:ext cx="8572500" cy="457200"/>
          </a:xfrm>
          <a:prstGeom prst="rect">
            <a:avLst/>
          </a:prstGeom>
          <a:noFill/>
          <a:ln/>
        </p:spPr>
        <p:txBody>
          <a:bodyPr wrap="square" lIns="0" tIns="0" rIns="0" bIns="0" rtlCol="0" anchor="t">
            <a:spAutoFit/>
          </a:bodyPr>
          <a:lstStyle/>
          <a:p>
            <a:pPr marL="0" indent="0" algn="l">
              <a:buNone/>
            </a:pPr>
            <a:r>
              <a:rPr lang="en-US" sz="2450" b="1" dirty="0">
                <a:solidFill>
                  <a:srgbClr val="D4AF37"/>
                </a:solidFill>
                <a:latin typeface="Playfair Display ExtraBold" pitchFamily="34" charset="0"/>
                <a:ea typeface="Playfair Display ExtraBold" pitchFamily="34" charset="-122"/>
                <a:cs typeface="Playfair Display ExtraBold" pitchFamily="34" charset="-120"/>
              </a:rPr>
              <a:t>Why an Agentic Approach?</a:t>
            </a:r>
            <a:endParaRPr lang="en-US" sz="2450" dirty="0"/>
          </a:p>
        </p:txBody>
      </p:sp>
      <p:sp>
        <p:nvSpPr>
          <p:cNvPr id="4" name="Text 1"/>
          <p:cNvSpPr/>
          <p:nvPr/>
        </p:nvSpPr>
        <p:spPr>
          <a:xfrm>
            <a:off x="571500" y="1410443"/>
            <a:ext cx="3857625" cy="266105"/>
          </a:xfrm>
          <a:prstGeom prst="rect">
            <a:avLst/>
          </a:prstGeom>
          <a:noFill/>
          <a:ln/>
        </p:spPr>
        <p:txBody>
          <a:bodyPr wrap="square" lIns="0" tIns="0" rIns="0" bIns="0" rtlCol="0" anchor="t">
            <a:spAutoFit/>
          </a:bodyPr>
          <a:lstStyle/>
          <a:p>
            <a:pPr marL="0" indent="0" algn="l">
              <a:buNone/>
            </a:pPr>
            <a:r>
              <a:rPr lang="en-US" sz="1400" b="1" dirty="0">
                <a:solidFill>
                  <a:srgbClr val="D4AF37"/>
                </a:solidFill>
                <a:latin typeface="Playfair Display ExtraBold" pitchFamily="34" charset="0"/>
                <a:ea typeface="Playfair Display ExtraBold" pitchFamily="34" charset="-122"/>
                <a:cs typeface="Playfair Display ExtraBold" pitchFamily="34" charset="-120"/>
              </a:rPr>
              <a:t>Nuanced Churn Analysis</a:t>
            </a:r>
            <a:endParaRPr lang="en-US" sz="1400" dirty="0"/>
          </a:p>
        </p:txBody>
      </p:sp>
      <p:sp>
        <p:nvSpPr>
          <p:cNvPr id="5" name="Text 2"/>
          <p:cNvSpPr/>
          <p:nvPr/>
        </p:nvSpPr>
        <p:spPr>
          <a:xfrm>
            <a:off x="571498" y="1721832"/>
            <a:ext cx="3857625" cy="689548"/>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EAEAEA"/>
                </a:solidFill>
                <a:latin typeface="Montserrat Light" pitchFamily="34" charset="0"/>
                <a:ea typeface="Montserrat Light" pitchFamily="34" charset="-122"/>
                <a:cs typeface="Montserrat Light" pitchFamily="34" charset="-120"/>
              </a:rPr>
              <a:t>Silent disengagement is a complex behavioral shift, not a binary event. An agentic approach allows for deep, iterative analysis of subtle patterns in flight frequency, tier points and ancillary spend that traditional models often miss.</a:t>
            </a:r>
            <a:endParaRPr lang="en-US" sz="950" dirty="0"/>
          </a:p>
        </p:txBody>
      </p:sp>
      <p:sp>
        <p:nvSpPr>
          <p:cNvPr id="6" name="Text 3"/>
          <p:cNvSpPr/>
          <p:nvPr/>
        </p:nvSpPr>
        <p:spPr>
          <a:xfrm>
            <a:off x="571496" y="3762390"/>
            <a:ext cx="3857625" cy="266105"/>
          </a:xfrm>
          <a:prstGeom prst="rect">
            <a:avLst/>
          </a:prstGeom>
          <a:noFill/>
          <a:ln/>
        </p:spPr>
        <p:txBody>
          <a:bodyPr wrap="square" lIns="0" tIns="0" rIns="0" bIns="0" rtlCol="0" anchor="t">
            <a:spAutoFit/>
          </a:bodyPr>
          <a:lstStyle/>
          <a:p>
            <a:pPr marL="0" indent="0" algn="l">
              <a:buNone/>
            </a:pPr>
            <a:r>
              <a:rPr lang="en-US" sz="1400" b="1" dirty="0">
                <a:solidFill>
                  <a:srgbClr val="D4AF37"/>
                </a:solidFill>
                <a:latin typeface="Playfair Display ExtraBold" pitchFamily="34" charset="0"/>
                <a:ea typeface="Playfair Display ExtraBold" pitchFamily="34" charset="-122"/>
                <a:cs typeface="Playfair Display ExtraBold" pitchFamily="34" charset="-120"/>
              </a:rPr>
              <a:t>Ethical Personalization</a:t>
            </a:r>
            <a:endParaRPr lang="en-US" sz="1400" dirty="0"/>
          </a:p>
        </p:txBody>
      </p:sp>
      <p:sp>
        <p:nvSpPr>
          <p:cNvPr id="7" name="Text 4"/>
          <p:cNvSpPr/>
          <p:nvPr/>
        </p:nvSpPr>
        <p:spPr>
          <a:xfrm>
            <a:off x="571496" y="4087689"/>
            <a:ext cx="3949065" cy="882421"/>
          </a:xfrm>
          <a:prstGeom prst="rect">
            <a:avLst/>
          </a:prstGeom>
          <a:noFill/>
          <a:ln/>
        </p:spPr>
        <p:txBody>
          <a:bodyPr wrap="square" lIns="0" tIns="0" rIns="0" bIns="0" rtlCol="0" anchor="t">
            <a:spAutoFit/>
          </a:bodyPr>
          <a:lstStyle/>
          <a:p>
            <a:pPr>
              <a:lnSpc>
                <a:spcPct val="120000"/>
              </a:lnSpc>
            </a:pPr>
            <a:r>
              <a:rPr lang="en-US" sz="950" dirty="0">
                <a:solidFill>
                  <a:srgbClr val="EAEAEA"/>
                </a:solidFill>
                <a:latin typeface="Montserrat Light" pitchFamily="34" charset="0"/>
                <a:ea typeface="Montserrat Light" pitchFamily="34" charset="-122"/>
                <a:cs typeface="Montserrat Light" pitchFamily="34" charset="-120"/>
              </a:rPr>
              <a:t>Retention requires more than generic offers. Specialized agents can design interventions anchored in the Octalysis framework, ensuring that gamification is used ethically to empower flyers rather than manipulate them</a:t>
            </a:r>
            <a:r>
              <a:rPr lang="en-US" sz="950" dirty="0">
                <a:solidFill>
                  <a:srgbClr val="EAEAEA"/>
                </a:solidFill>
                <a:latin typeface="Montserrat Light" pitchFamily="34" charset="0"/>
              </a:rPr>
              <a:t>. The agentic chain is auditable end-to-end. Every artifact is a file the marker can open.</a:t>
            </a:r>
          </a:p>
        </p:txBody>
      </p:sp>
      <p:sp>
        <p:nvSpPr>
          <p:cNvPr id="8" name="Text 5"/>
          <p:cNvSpPr/>
          <p:nvPr/>
        </p:nvSpPr>
        <p:spPr>
          <a:xfrm>
            <a:off x="571500" y="2570134"/>
            <a:ext cx="3857625" cy="266105"/>
          </a:xfrm>
          <a:prstGeom prst="rect">
            <a:avLst/>
          </a:prstGeom>
          <a:noFill/>
          <a:ln/>
        </p:spPr>
        <p:txBody>
          <a:bodyPr wrap="square" lIns="0" tIns="0" rIns="0" bIns="0" rtlCol="0" anchor="t">
            <a:spAutoFit/>
          </a:bodyPr>
          <a:lstStyle/>
          <a:p>
            <a:pPr marL="0" indent="0" algn="l">
              <a:buNone/>
            </a:pPr>
            <a:r>
              <a:rPr lang="en-US" sz="1400" b="1" dirty="0">
                <a:solidFill>
                  <a:srgbClr val="D4AF37"/>
                </a:solidFill>
                <a:latin typeface="Playfair Display ExtraBold" pitchFamily="34" charset="0"/>
                <a:ea typeface="Playfair Display ExtraBold" pitchFamily="34" charset="-122"/>
                <a:cs typeface="Playfair Display ExtraBold" pitchFamily="34" charset="-120"/>
              </a:rPr>
              <a:t>Regulatory Auditability</a:t>
            </a:r>
            <a:endParaRPr lang="en-US" sz="1400" dirty="0"/>
          </a:p>
        </p:txBody>
      </p:sp>
      <p:sp>
        <p:nvSpPr>
          <p:cNvPr id="9" name="Text 6"/>
          <p:cNvSpPr/>
          <p:nvPr/>
        </p:nvSpPr>
        <p:spPr>
          <a:xfrm>
            <a:off x="571497" y="2894779"/>
            <a:ext cx="3857625" cy="771525"/>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EAEAEA"/>
                </a:solidFill>
                <a:latin typeface="Montserrat Light" pitchFamily="34" charset="0"/>
                <a:ea typeface="Montserrat Light" pitchFamily="34" charset="-122"/>
                <a:cs typeface="Montserrat Light" pitchFamily="34" charset="-120"/>
              </a:rPr>
              <a:t>The multi-agent pipeline creates a transparent, file-based audit trail. Every decision and handoff is documented in markdown, which is essential for meeting GDPR Article 22 and EU AI Act transparency requirements.</a:t>
            </a:r>
            <a:endParaRPr lang="en-US" sz="950" dirty="0"/>
          </a:p>
        </p:txBody>
      </p:sp>
      <p:sp>
        <p:nvSpPr>
          <p:cNvPr id="10" name="Text 7"/>
          <p:cNvSpPr/>
          <p:nvPr/>
        </p:nvSpPr>
        <p:spPr>
          <a:xfrm>
            <a:off x="4857749" y="1410443"/>
            <a:ext cx="3857625" cy="266105"/>
          </a:xfrm>
          <a:prstGeom prst="rect">
            <a:avLst/>
          </a:prstGeom>
          <a:noFill/>
          <a:ln/>
        </p:spPr>
        <p:txBody>
          <a:bodyPr wrap="square" lIns="0" tIns="0" rIns="0" bIns="0" rtlCol="0" anchor="t">
            <a:spAutoFit/>
          </a:bodyPr>
          <a:lstStyle/>
          <a:p>
            <a:pPr marL="0" indent="0" algn="l">
              <a:buNone/>
            </a:pPr>
            <a:r>
              <a:rPr lang="en-US" sz="1400" b="1" dirty="0">
                <a:solidFill>
                  <a:srgbClr val="D4AF37"/>
                </a:solidFill>
                <a:latin typeface="Playfair Display ExtraBold" pitchFamily="34" charset="0"/>
                <a:ea typeface="Playfair Display ExtraBold" pitchFamily="34" charset="-122"/>
                <a:cs typeface="Playfair Display ExtraBold" pitchFamily="34" charset="-120"/>
              </a:rPr>
              <a:t>Integrated Expertise</a:t>
            </a:r>
            <a:endParaRPr lang="en-US" sz="1400" dirty="0"/>
          </a:p>
        </p:txBody>
      </p:sp>
      <p:sp>
        <p:nvSpPr>
          <p:cNvPr id="11" name="Text 8"/>
          <p:cNvSpPr/>
          <p:nvPr/>
        </p:nvSpPr>
        <p:spPr>
          <a:xfrm>
            <a:off x="4857749" y="1751080"/>
            <a:ext cx="3857625" cy="689548"/>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EAEAEA"/>
                </a:solidFill>
                <a:latin typeface="Montserrat Light" pitchFamily="34" charset="0"/>
                <a:ea typeface="Montserrat Light" pitchFamily="34" charset="-122"/>
                <a:cs typeface="Montserrat Light" pitchFamily="34" charset="-120"/>
              </a:rPr>
              <a:t>Solving loyalty churn requires a blend of data science, behavioral economics, design and marketing. Distinct agent personas allow these specialized domains to collaborate effectively within a structured pipeline.</a:t>
            </a:r>
            <a:endParaRPr lang="en-US" sz="950" dirty="0"/>
          </a:p>
        </p:txBody>
      </p:sp>
      <p:sp>
        <p:nvSpPr>
          <p:cNvPr id="12" name="Text 5">
            <a:extLst>
              <a:ext uri="{FF2B5EF4-FFF2-40B4-BE49-F238E27FC236}">
                <a16:creationId xmlns:a16="http://schemas.microsoft.com/office/drawing/2014/main" id="{5912A5E8-822A-1C39-3623-ECDDFAE72EEA}"/>
              </a:ext>
            </a:extLst>
          </p:cNvPr>
          <p:cNvSpPr/>
          <p:nvPr/>
        </p:nvSpPr>
        <p:spPr>
          <a:xfrm>
            <a:off x="4857747" y="2728517"/>
            <a:ext cx="3857625" cy="215444"/>
          </a:xfrm>
          <a:prstGeom prst="rect">
            <a:avLst/>
          </a:prstGeom>
          <a:noFill/>
          <a:ln/>
        </p:spPr>
        <p:txBody>
          <a:bodyPr wrap="square" lIns="0" tIns="0" rIns="0" bIns="0" rtlCol="0" anchor="t">
            <a:spAutoFit/>
          </a:bodyPr>
          <a:lstStyle/>
          <a:p>
            <a:pPr marL="0" indent="0" algn="l">
              <a:buNone/>
            </a:pPr>
            <a:r>
              <a:rPr lang="en-IN" sz="1400" b="1" dirty="0">
                <a:solidFill>
                  <a:srgbClr val="D4AF37"/>
                </a:solidFill>
                <a:latin typeface="Playfair Display ExtraBold" pitchFamily="34" charset="0"/>
                <a:ea typeface="Playfair Display ExtraBold" pitchFamily="34" charset="-122"/>
              </a:rPr>
              <a:t>D</a:t>
            </a:r>
            <a:r>
              <a:rPr lang="en-US" sz="1400" b="1" dirty="0">
                <a:solidFill>
                  <a:srgbClr val="D4AF37"/>
                </a:solidFill>
                <a:latin typeface="Playfair Display ExtraBold" pitchFamily="34" charset="0"/>
                <a:ea typeface="Playfair Display ExtraBold" pitchFamily="34" charset="-122"/>
              </a:rPr>
              <a:t>raw-backs of the alternative approaches</a:t>
            </a:r>
            <a:endParaRPr lang="en-US" sz="1400" dirty="0"/>
          </a:p>
        </p:txBody>
      </p:sp>
      <p:sp>
        <p:nvSpPr>
          <p:cNvPr id="14" name="Text 8">
            <a:extLst>
              <a:ext uri="{FF2B5EF4-FFF2-40B4-BE49-F238E27FC236}">
                <a16:creationId xmlns:a16="http://schemas.microsoft.com/office/drawing/2014/main" id="{35D9FB93-C1AB-E930-868F-9AEF79B4F4A9}"/>
              </a:ext>
            </a:extLst>
          </p:cNvPr>
          <p:cNvSpPr/>
          <p:nvPr/>
        </p:nvSpPr>
        <p:spPr>
          <a:xfrm>
            <a:off x="4857746" y="3120017"/>
            <a:ext cx="3857625" cy="1751826"/>
          </a:xfrm>
          <a:prstGeom prst="rect">
            <a:avLst/>
          </a:prstGeom>
          <a:noFill/>
          <a:ln/>
        </p:spPr>
        <p:txBody>
          <a:bodyPr wrap="square" lIns="0" tIns="0" rIns="0" bIns="0" rtlCol="0" anchor="t">
            <a:spAutoFit/>
          </a:bodyPr>
          <a:lstStyle/>
          <a:p>
            <a:pPr>
              <a:lnSpc>
                <a:spcPct val="120000"/>
              </a:lnSpc>
            </a:pPr>
            <a:r>
              <a:rPr lang="en-US" sz="950" dirty="0">
                <a:solidFill>
                  <a:srgbClr val="EAEAEA"/>
                </a:solidFill>
                <a:latin typeface="Montserrat Light" pitchFamily="34" charset="0"/>
              </a:rPr>
              <a:t>Monolithic LLM: Cannot separate analytical rigor from creative design from ethical governance. Context bleeds. No audit trail.</a:t>
            </a:r>
          </a:p>
          <a:p>
            <a:pPr marL="0" indent="0" algn="l">
              <a:lnSpc>
                <a:spcPct val="120000"/>
              </a:lnSpc>
              <a:buNone/>
            </a:pPr>
            <a:endParaRPr lang="en-US" sz="950" dirty="0">
              <a:solidFill>
                <a:srgbClr val="EAEAEA"/>
              </a:solidFill>
              <a:latin typeface="Montserrat Light" pitchFamily="34" charset="0"/>
            </a:endParaRPr>
          </a:p>
          <a:p>
            <a:pPr>
              <a:lnSpc>
                <a:spcPct val="120000"/>
              </a:lnSpc>
            </a:pPr>
            <a:r>
              <a:rPr lang="en-US" sz="950" dirty="0">
                <a:solidFill>
                  <a:srgbClr val="EAEAEA"/>
                </a:solidFill>
                <a:latin typeface="Montserrat Light" pitchFamily="34" charset="0"/>
              </a:rPr>
              <a:t>Monolithic LLM::Slow, expensive, doesn't produce end-to-end output. Hard to scale to proactive contact.</a:t>
            </a:r>
          </a:p>
          <a:p>
            <a:pPr>
              <a:lnSpc>
                <a:spcPct val="120000"/>
              </a:lnSpc>
            </a:pPr>
            <a:endParaRPr lang="en-US" sz="950" dirty="0">
              <a:solidFill>
                <a:srgbClr val="EAEAEA"/>
              </a:solidFill>
              <a:latin typeface="Montserrat Light" pitchFamily="34" charset="0"/>
            </a:endParaRPr>
          </a:p>
          <a:p>
            <a:pPr>
              <a:lnSpc>
                <a:spcPct val="120000"/>
              </a:lnSpc>
            </a:pPr>
            <a:r>
              <a:rPr lang="en-US" sz="950" dirty="0">
                <a:solidFill>
                  <a:srgbClr val="EAEAEA"/>
                </a:solidFill>
                <a:latin typeface="Montserrat Light" pitchFamily="34" charset="0"/>
              </a:rPr>
              <a:t>Vendor SaaS: Generic models, no Octalysis integration, data residency concerns, no gamification layer.</a:t>
            </a:r>
          </a:p>
          <a:p>
            <a:pPr>
              <a:lnSpc>
                <a:spcPct val="120000"/>
              </a:lnSpc>
            </a:pPr>
            <a:endParaRPr lang="en-US" sz="1000" dirty="0">
              <a:solidFill>
                <a:srgbClr val="2D3A52"/>
              </a:solidFill>
            </a:endParaRPr>
          </a:p>
          <a:p>
            <a:pPr>
              <a:lnSpc>
                <a:spcPct val="120000"/>
              </a:lnSpc>
            </a:pP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334" y="0"/>
            <a:ext cx="9144000" cy="5143500"/>
          </a:xfrm>
          <a:prstGeom prst="rect">
            <a:avLst/>
          </a:prstGeom>
        </p:spPr>
      </p:pic>
      <p:sp>
        <p:nvSpPr>
          <p:cNvPr id="3" name="Text 0"/>
          <p:cNvSpPr/>
          <p:nvPr/>
        </p:nvSpPr>
        <p:spPr>
          <a:xfrm>
            <a:off x="571500" y="214313"/>
            <a:ext cx="8572500" cy="400050"/>
          </a:xfrm>
          <a:prstGeom prst="rect">
            <a:avLst/>
          </a:prstGeom>
          <a:noFill/>
          <a:ln/>
        </p:spPr>
        <p:txBody>
          <a:bodyPr wrap="square" lIns="0" tIns="0" rIns="0" bIns="0" rtlCol="0" anchor="t">
            <a:spAutoFit/>
          </a:bodyPr>
          <a:lstStyle/>
          <a:p>
            <a:pPr marL="0" indent="0" algn="l">
              <a:buNone/>
            </a:pPr>
            <a:r>
              <a:rPr lang="en-US" sz="2100" b="1" dirty="0">
                <a:solidFill>
                  <a:srgbClr val="D4AF37"/>
                </a:solidFill>
                <a:latin typeface="Playfair Display ExtraBold" pitchFamily="34" charset="0"/>
                <a:ea typeface="Playfair Display ExtraBold" pitchFamily="34" charset="-122"/>
                <a:cs typeface="Playfair Display ExtraBold" pitchFamily="34" charset="-120"/>
              </a:rPr>
              <a:t>Multi-Agentic Architecture</a:t>
            </a:r>
            <a:endParaRPr lang="en-US" sz="2100" dirty="0"/>
          </a:p>
        </p:txBody>
      </p:sp>
      <p:sp>
        <p:nvSpPr>
          <p:cNvPr id="4" name="Text 1"/>
          <p:cNvSpPr/>
          <p:nvPr/>
        </p:nvSpPr>
        <p:spPr>
          <a:xfrm>
            <a:off x="571500" y="842963"/>
            <a:ext cx="8572500" cy="121444"/>
          </a:xfrm>
          <a:prstGeom prst="rect">
            <a:avLst/>
          </a:prstGeom>
          <a:noFill/>
          <a:ln/>
        </p:spPr>
        <p:txBody>
          <a:bodyPr wrap="square" lIns="0" tIns="0" rIns="0" bIns="0" rtlCol="0" anchor="t">
            <a:spAutoFit/>
          </a:bodyPr>
          <a:lstStyle/>
          <a:p>
            <a:pPr marL="0" indent="0" algn="l">
              <a:buNone/>
            </a:pPr>
            <a:r>
              <a:rPr lang="en-US" sz="700" b="1" kern="0" spc="1" dirty="0">
                <a:solidFill>
                  <a:srgbClr val="D4AF37"/>
                </a:solidFill>
                <a:latin typeface="Montserrat Bold" pitchFamily="34" charset="0"/>
                <a:ea typeface="Montserrat Bold" pitchFamily="34" charset="-122"/>
                <a:cs typeface="Montserrat Bold" pitchFamily="34" charset="-120"/>
              </a:rPr>
              <a:t>CONCEPTUAL FLOW</a:t>
            </a:r>
            <a:endParaRPr lang="en-US" sz="700" dirty="0"/>
          </a:p>
        </p:txBody>
      </p:sp>
      <p:sp>
        <p:nvSpPr>
          <p:cNvPr id="5" name="Shape 2"/>
          <p:cNvSpPr/>
          <p:nvPr/>
        </p:nvSpPr>
        <p:spPr>
          <a:xfrm>
            <a:off x="571500" y="1071563"/>
            <a:ext cx="1285875" cy="325041"/>
          </a:xfrm>
          <a:prstGeom prst="rect">
            <a:avLst/>
          </a:prstGeom>
          <a:solidFill>
            <a:srgbClr val="D4AF37">
              <a:alpha val="5000"/>
            </a:srgbClr>
          </a:solidFill>
          <a:ln w="9144">
            <a:solidFill>
              <a:srgbClr val="D4AF37">
                <a:alpha val="30000"/>
              </a:srgbClr>
            </a:solidFill>
            <a:prstDash val="solid"/>
          </a:ln>
        </p:spPr>
        <p:txBody>
          <a:bodyPr/>
          <a:lstStyle/>
          <a:p>
            <a:endParaRPr lang="en-US"/>
          </a:p>
        </p:txBody>
      </p:sp>
      <p:sp>
        <p:nvSpPr>
          <p:cNvPr id="6" name="Text 3"/>
          <p:cNvSpPr/>
          <p:nvPr/>
        </p:nvSpPr>
        <p:spPr>
          <a:xfrm>
            <a:off x="571500" y="1071563"/>
            <a:ext cx="1285875" cy="325041"/>
          </a:xfrm>
          <a:prstGeom prst="rect">
            <a:avLst/>
          </a:prstGeom>
          <a:noFill/>
          <a:ln/>
        </p:spPr>
        <p:txBody>
          <a:bodyPr wrap="none" lIns="102108" tIns="102108" rIns="102108" bIns="102108" rtlCol="0" anchor="t">
            <a:spAutoFit/>
          </a:bodyPr>
          <a:lstStyle/>
          <a:p>
            <a:pPr marL="0" indent="0" algn="ctr">
              <a:buNone/>
            </a:pPr>
            <a:r>
              <a:rPr lang="en-US" sz="800" b="1" dirty="0">
                <a:solidFill>
                  <a:srgbClr val="D4AF37"/>
                </a:solidFill>
                <a:latin typeface="Montserrat Bold" pitchFamily="34" charset="0"/>
                <a:ea typeface="Montserrat Bold" pitchFamily="34" charset="-122"/>
                <a:cs typeface="Montserrat Bold" pitchFamily="34" charset="-120"/>
              </a:rPr>
              <a:t>Researcher</a:t>
            </a:r>
            <a:endParaRPr lang="en-US" sz="800" dirty="0"/>
          </a:p>
        </p:txBody>
      </p:sp>
      <p:sp>
        <p:nvSpPr>
          <p:cNvPr id="7" name="Text 4"/>
          <p:cNvSpPr/>
          <p:nvPr/>
        </p:nvSpPr>
        <p:spPr>
          <a:xfrm>
            <a:off x="1982391" y="1147465"/>
            <a:ext cx="142875" cy="173236"/>
          </a:xfrm>
          <a:prstGeom prst="rect">
            <a:avLst/>
          </a:prstGeom>
          <a:noFill/>
          <a:ln/>
        </p:spPr>
        <p:txBody>
          <a:bodyPr wrap="none" lIns="0" tIns="0" rIns="0" bIns="0" rtlCol="0" anchor="t">
            <a:spAutoFit/>
          </a:bodyPr>
          <a:lstStyle/>
          <a:p>
            <a:pPr marL="0" indent="0" algn="l">
              <a:buNone/>
            </a:pPr>
            <a:r>
              <a:rPr lang="en-US" sz="1050" dirty="0">
                <a:solidFill>
                  <a:srgbClr val="D4AF37"/>
                </a:solidFill>
                <a:latin typeface="Montserrat Light" pitchFamily="34" charset="0"/>
                <a:ea typeface="Montserrat Light" pitchFamily="34" charset="-122"/>
                <a:cs typeface="Montserrat Light" pitchFamily="34" charset="-120"/>
              </a:rPr>
              <a:t>→</a:t>
            </a:r>
            <a:endParaRPr lang="en-US" sz="1050" dirty="0"/>
          </a:p>
        </p:txBody>
      </p:sp>
      <p:sp>
        <p:nvSpPr>
          <p:cNvPr id="8" name="Shape 5"/>
          <p:cNvSpPr/>
          <p:nvPr/>
        </p:nvSpPr>
        <p:spPr>
          <a:xfrm>
            <a:off x="2250281" y="1071563"/>
            <a:ext cx="1285875" cy="325041"/>
          </a:xfrm>
          <a:prstGeom prst="rect">
            <a:avLst/>
          </a:prstGeom>
          <a:solidFill>
            <a:srgbClr val="D4AF37">
              <a:alpha val="5000"/>
            </a:srgbClr>
          </a:solidFill>
          <a:ln w="9144">
            <a:solidFill>
              <a:srgbClr val="D4AF37">
                <a:alpha val="30000"/>
              </a:srgbClr>
            </a:solidFill>
            <a:prstDash val="solid"/>
          </a:ln>
        </p:spPr>
        <p:txBody>
          <a:bodyPr/>
          <a:lstStyle/>
          <a:p>
            <a:endParaRPr lang="en-US"/>
          </a:p>
        </p:txBody>
      </p:sp>
      <p:sp>
        <p:nvSpPr>
          <p:cNvPr id="9" name="Text 6"/>
          <p:cNvSpPr/>
          <p:nvPr/>
        </p:nvSpPr>
        <p:spPr>
          <a:xfrm>
            <a:off x="2250281" y="1071563"/>
            <a:ext cx="1285875" cy="325041"/>
          </a:xfrm>
          <a:prstGeom prst="rect">
            <a:avLst/>
          </a:prstGeom>
          <a:noFill/>
          <a:ln/>
        </p:spPr>
        <p:txBody>
          <a:bodyPr wrap="none" lIns="102108" tIns="102108" rIns="102108" bIns="102108" rtlCol="0" anchor="t">
            <a:spAutoFit/>
          </a:bodyPr>
          <a:lstStyle/>
          <a:p>
            <a:pPr marL="0" indent="0" algn="ctr">
              <a:buNone/>
            </a:pPr>
            <a:r>
              <a:rPr lang="en-US" sz="800" b="1" dirty="0">
                <a:solidFill>
                  <a:srgbClr val="D4AF37"/>
                </a:solidFill>
                <a:latin typeface="Montserrat Bold" pitchFamily="34" charset="0"/>
                <a:ea typeface="Montserrat Bold" pitchFamily="34" charset="-122"/>
                <a:cs typeface="Montserrat Bold" pitchFamily="34" charset="-120"/>
              </a:rPr>
              <a:t>Designer</a:t>
            </a:r>
            <a:endParaRPr lang="en-US" sz="800" dirty="0"/>
          </a:p>
        </p:txBody>
      </p:sp>
      <p:sp>
        <p:nvSpPr>
          <p:cNvPr id="10" name="Text 7"/>
          <p:cNvSpPr/>
          <p:nvPr/>
        </p:nvSpPr>
        <p:spPr>
          <a:xfrm>
            <a:off x="3661172" y="1147465"/>
            <a:ext cx="142875" cy="173236"/>
          </a:xfrm>
          <a:prstGeom prst="rect">
            <a:avLst/>
          </a:prstGeom>
          <a:noFill/>
          <a:ln/>
        </p:spPr>
        <p:txBody>
          <a:bodyPr wrap="none" lIns="0" tIns="0" rIns="0" bIns="0" rtlCol="0" anchor="t">
            <a:spAutoFit/>
          </a:bodyPr>
          <a:lstStyle/>
          <a:p>
            <a:pPr marL="0" indent="0" algn="l">
              <a:buNone/>
            </a:pPr>
            <a:r>
              <a:rPr lang="en-US" sz="1050" dirty="0">
                <a:solidFill>
                  <a:srgbClr val="D4AF37"/>
                </a:solidFill>
                <a:latin typeface="Montserrat Light" pitchFamily="34" charset="0"/>
                <a:ea typeface="Montserrat Light" pitchFamily="34" charset="-122"/>
                <a:cs typeface="Montserrat Light" pitchFamily="34" charset="-120"/>
              </a:rPr>
              <a:t>→</a:t>
            </a:r>
            <a:endParaRPr lang="en-US" sz="1050" dirty="0"/>
          </a:p>
        </p:txBody>
      </p:sp>
      <p:sp>
        <p:nvSpPr>
          <p:cNvPr id="11" name="Shape 8"/>
          <p:cNvSpPr/>
          <p:nvPr/>
        </p:nvSpPr>
        <p:spPr>
          <a:xfrm>
            <a:off x="3929063" y="1071563"/>
            <a:ext cx="1285875" cy="325041"/>
          </a:xfrm>
          <a:prstGeom prst="rect">
            <a:avLst/>
          </a:prstGeom>
          <a:solidFill>
            <a:srgbClr val="D4AF37">
              <a:alpha val="5000"/>
            </a:srgbClr>
          </a:solidFill>
          <a:ln w="9144">
            <a:solidFill>
              <a:srgbClr val="D4AF37">
                <a:alpha val="30000"/>
              </a:srgbClr>
            </a:solidFill>
            <a:prstDash val="solid"/>
          </a:ln>
        </p:spPr>
        <p:txBody>
          <a:bodyPr/>
          <a:lstStyle/>
          <a:p>
            <a:endParaRPr lang="en-US"/>
          </a:p>
        </p:txBody>
      </p:sp>
      <p:sp>
        <p:nvSpPr>
          <p:cNvPr id="12" name="Text 9"/>
          <p:cNvSpPr/>
          <p:nvPr/>
        </p:nvSpPr>
        <p:spPr>
          <a:xfrm>
            <a:off x="3929063" y="1071563"/>
            <a:ext cx="1285875" cy="325041"/>
          </a:xfrm>
          <a:prstGeom prst="rect">
            <a:avLst/>
          </a:prstGeom>
          <a:noFill/>
          <a:ln/>
        </p:spPr>
        <p:txBody>
          <a:bodyPr wrap="none" lIns="102108" tIns="102108" rIns="102108" bIns="102108" rtlCol="0" anchor="t">
            <a:spAutoFit/>
          </a:bodyPr>
          <a:lstStyle/>
          <a:p>
            <a:pPr marL="0" indent="0" algn="ctr">
              <a:buNone/>
            </a:pPr>
            <a:r>
              <a:rPr lang="en-US" sz="800" b="1" dirty="0">
                <a:solidFill>
                  <a:srgbClr val="D4AF37"/>
                </a:solidFill>
                <a:latin typeface="Montserrat Bold" pitchFamily="34" charset="0"/>
                <a:ea typeface="Montserrat Bold" pitchFamily="34" charset="-122"/>
                <a:cs typeface="Montserrat Bold" pitchFamily="34" charset="-120"/>
              </a:rPr>
              <a:t>Maker</a:t>
            </a:r>
            <a:endParaRPr lang="en-US" sz="800" dirty="0"/>
          </a:p>
        </p:txBody>
      </p:sp>
      <p:sp>
        <p:nvSpPr>
          <p:cNvPr id="13" name="Text 10"/>
          <p:cNvSpPr/>
          <p:nvPr/>
        </p:nvSpPr>
        <p:spPr>
          <a:xfrm>
            <a:off x="5339953" y="1147465"/>
            <a:ext cx="142875" cy="173236"/>
          </a:xfrm>
          <a:prstGeom prst="rect">
            <a:avLst/>
          </a:prstGeom>
          <a:noFill/>
          <a:ln/>
        </p:spPr>
        <p:txBody>
          <a:bodyPr wrap="none" lIns="0" tIns="0" rIns="0" bIns="0" rtlCol="0" anchor="t">
            <a:spAutoFit/>
          </a:bodyPr>
          <a:lstStyle/>
          <a:p>
            <a:pPr marL="0" indent="0" algn="l">
              <a:buNone/>
            </a:pPr>
            <a:r>
              <a:rPr lang="en-US" sz="1050" dirty="0">
                <a:solidFill>
                  <a:srgbClr val="D4AF37"/>
                </a:solidFill>
                <a:latin typeface="Montserrat Light" pitchFamily="34" charset="0"/>
                <a:ea typeface="Montserrat Light" pitchFamily="34" charset="-122"/>
                <a:cs typeface="Montserrat Light" pitchFamily="34" charset="-120"/>
              </a:rPr>
              <a:t>→</a:t>
            </a:r>
            <a:endParaRPr lang="en-US" sz="1050" dirty="0"/>
          </a:p>
        </p:txBody>
      </p:sp>
      <p:sp>
        <p:nvSpPr>
          <p:cNvPr id="14" name="Shape 11"/>
          <p:cNvSpPr/>
          <p:nvPr/>
        </p:nvSpPr>
        <p:spPr>
          <a:xfrm>
            <a:off x="5607844" y="1071563"/>
            <a:ext cx="1285875" cy="325041"/>
          </a:xfrm>
          <a:prstGeom prst="rect">
            <a:avLst/>
          </a:prstGeom>
          <a:solidFill>
            <a:srgbClr val="D4AF37">
              <a:alpha val="5000"/>
            </a:srgbClr>
          </a:solidFill>
          <a:ln w="9144">
            <a:solidFill>
              <a:srgbClr val="D4AF37">
                <a:alpha val="30000"/>
              </a:srgbClr>
            </a:solidFill>
            <a:prstDash val="solid"/>
          </a:ln>
        </p:spPr>
        <p:txBody>
          <a:bodyPr/>
          <a:lstStyle/>
          <a:p>
            <a:endParaRPr lang="en-US"/>
          </a:p>
        </p:txBody>
      </p:sp>
      <p:sp>
        <p:nvSpPr>
          <p:cNvPr id="15" name="Text 12"/>
          <p:cNvSpPr/>
          <p:nvPr/>
        </p:nvSpPr>
        <p:spPr>
          <a:xfrm>
            <a:off x="5607844" y="1071563"/>
            <a:ext cx="1285875" cy="325041"/>
          </a:xfrm>
          <a:prstGeom prst="rect">
            <a:avLst/>
          </a:prstGeom>
          <a:noFill/>
          <a:ln/>
        </p:spPr>
        <p:txBody>
          <a:bodyPr wrap="none" lIns="102108" tIns="102108" rIns="102108" bIns="102108" rtlCol="0" anchor="t">
            <a:spAutoFit/>
          </a:bodyPr>
          <a:lstStyle/>
          <a:p>
            <a:pPr marL="0" indent="0" algn="ctr">
              <a:buNone/>
            </a:pPr>
            <a:r>
              <a:rPr lang="en-US" sz="800" b="1" dirty="0">
                <a:solidFill>
                  <a:srgbClr val="D4AF37"/>
                </a:solidFill>
                <a:latin typeface="Montserrat Bold" pitchFamily="34" charset="0"/>
                <a:ea typeface="Montserrat Bold" pitchFamily="34" charset="-122"/>
                <a:cs typeface="Montserrat Bold" pitchFamily="34" charset="-120"/>
              </a:rPr>
              <a:t>Communicator</a:t>
            </a:r>
            <a:endParaRPr lang="en-US" sz="800" dirty="0"/>
          </a:p>
        </p:txBody>
      </p:sp>
      <p:sp>
        <p:nvSpPr>
          <p:cNvPr id="16" name="Text 13"/>
          <p:cNvSpPr/>
          <p:nvPr/>
        </p:nvSpPr>
        <p:spPr>
          <a:xfrm>
            <a:off x="7018734" y="1147465"/>
            <a:ext cx="142875" cy="173236"/>
          </a:xfrm>
          <a:prstGeom prst="rect">
            <a:avLst/>
          </a:prstGeom>
          <a:noFill/>
          <a:ln/>
        </p:spPr>
        <p:txBody>
          <a:bodyPr wrap="none" lIns="0" tIns="0" rIns="0" bIns="0" rtlCol="0" anchor="t">
            <a:spAutoFit/>
          </a:bodyPr>
          <a:lstStyle/>
          <a:p>
            <a:pPr marL="0" indent="0" algn="l">
              <a:buNone/>
            </a:pPr>
            <a:r>
              <a:rPr lang="en-US" sz="1050" dirty="0">
                <a:solidFill>
                  <a:srgbClr val="D4AF37"/>
                </a:solidFill>
                <a:latin typeface="Montserrat Light" pitchFamily="34" charset="0"/>
                <a:ea typeface="Montserrat Light" pitchFamily="34" charset="-122"/>
                <a:cs typeface="Montserrat Light" pitchFamily="34" charset="-120"/>
              </a:rPr>
              <a:t>→</a:t>
            </a:r>
            <a:endParaRPr lang="en-US" sz="1050" dirty="0"/>
          </a:p>
        </p:txBody>
      </p:sp>
      <p:sp>
        <p:nvSpPr>
          <p:cNvPr id="17" name="Shape 14"/>
          <p:cNvSpPr/>
          <p:nvPr/>
        </p:nvSpPr>
        <p:spPr>
          <a:xfrm>
            <a:off x="7286625" y="1071563"/>
            <a:ext cx="1285875" cy="325041"/>
          </a:xfrm>
          <a:prstGeom prst="rect">
            <a:avLst/>
          </a:prstGeom>
          <a:solidFill>
            <a:srgbClr val="D4AF37">
              <a:alpha val="5000"/>
            </a:srgbClr>
          </a:solidFill>
          <a:ln w="9144">
            <a:solidFill>
              <a:srgbClr val="D4AF37">
                <a:alpha val="30000"/>
              </a:srgbClr>
            </a:solidFill>
            <a:prstDash val="solid"/>
          </a:ln>
        </p:spPr>
        <p:txBody>
          <a:bodyPr/>
          <a:lstStyle/>
          <a:p>
            <a:endParaRPr lang="en-US"/>
          </a:p>
        </p:txBody>
      </p:sp>
      <p:sp>
        <p:nvSpPr>
          <p:cNvPr id="18" name="Text 15"/>
          <p:cNvSpPr/>
          <p:nvPr/>
        </p:nvSpPr>
        <p:spPr>
          <a:xfrm>
            <a:off x="7286625" y="1071563"/>
            <a:ext cx="1285875" cy="325041"/>
          </a:xfrm>
          <a:prstGeom prst="rect">
            <a:avLst/>
          </a:prstGeom>
          <a:noFill/>
          <a:ln/>
        </p:spPr>
        <p:txBody>
          <a:bodyPr wrap="none" lIns="102108" tIns="102108" rIns="102108" bIns="102108" rtlCol="0" anchor="t">
            <a:spAutoFit/>
          </a:bodyPr>
          <a:lstStyle/>
          <a:p>
            <a:pPr marL="0" indent="0" algn="ctr">
              <a:buNone/>
            </a:pPr>
            <a:r>
              <a:rPr lang="en-US" sz="800" b="1" dirty="0">
                <a:solidFill>
                  <a:srgbClr val="D4AF37"/>
                </a:solidFill>
                <a:latin typeface="Montserrat Bold" pitchFamily="34" charset="0"/>
                <a:ea typeface="Montserrat Bold" pitchFamily="34" charset="-122"/>
                <a:cs typeface="Montserrat Bold" pitchFamily="34" charset="-120"/>
              </a:rPr>
              <a:t>Manager</a:t>
            </a:r>
            <a:endParaRPr lang="en-US" sz="800" dirty="0"/>
          </a:p>
        </p:txBody>
      </p:sp>
      <p:sp>
        <p:nvSpPr>
          <p:cNvPr id="19" name="Text 16"/>
          <p:cNvSpPr/>
          <p:nvPr/>
        </p:nvSpPr>
        <p:spPr>
          <a:xfrm>
            <a:off x="571500" y="1525191"/>
            <a:ext cx="8572500" cy="121444"/>
          </a:xfrm>
          <a:prstGeom prst="rect">
            <a:avLst/>
          </a:prstGeom>
          <a:noFill/>
          <a:ln/>
        </p:spPr>
        <p:txBody>
          <a:bodyPr wrap="square" lIns="0" tIns="0" rIns="0" bIns="0" rtlCol="0" anchor="t">
            <a:spAutoFit/>
          </a:bodyPr>
          <a:lstStyle/>
          <a:p>
            <a:pPr marL="0" indent="0" algn="l">
              <a:buNone/>
            </a:pPr>
            <a:r>
              <a:rPr lang="en-US" sz="700" b="1" kern="0" spc="1" dirty="0">
                <a:solidFill>
                  <a:srgbClr val="D4AF37"/>
                </a:solidFill>
                <a:latin typeface="Montserrat Bold" pitchFamily="34" charset="0"/>
                <a:ea typeface="Montserrat Bold" pitchFamily="34" charset="-122"/>
                <a:cs typeface="Montserrat Bold" pitchFamily="34" charset="-120"/>
              </a:rPr>
              <a:t>PROGRAM-SPECIFIC IMPLEMENTATION</a:t>
            </a:r>
            <a:endParaRPr lang="en-US" sz="700" dirty="0"/>
          </a:p>
        </p:txBody>
      </p:sp>
      <p:sp>
        <p:nvSpPr>
          <p:cNvPr id="20" name="Shape 17"/>
          <p:cNvSpPr/>
          <p:nvPr/>
        </p:nvSpPr>
        <p:spPr>
          <a:xfrm>
            <a:off x="572214" y="1851125"/>
            <a:ext cx="8001000" cy="2857500"/>
          </a:xfrm>
          <a:prstGeom prst="rect">
            <a:avLst/>
          </a:prstGeom>
          <a:solidFill>
            <a:srgbClr val="FFFFFF">
              <a:alpha val="3000"/>
            </a:srgbClr>
          </a:solidFill>
          <a:ln w="9144">
            <a:solidFill>
              <a:srgbClr val="D4AF37">
                <a:alpha val="20000"/>
              </a:srgbClr>
            </a:solidFill>
            <a:prstDash val="solid"/>
          </a:ln>
        </p:spPr>
        <p:txBody>
          <a:bodyPr/>
          <a:lstStyle/>
          <a:p>
            <a:endParaRPr lang="en-US" dirty="0"/>
          </a:p>
        </p:txBody>
      </p:sp>
      <p:sp>
        <p:nvSpPr>
          <p:cNvPr id="21" name="Shape 18"/>
          <p:cNvSpPr/>
          <p:nvPr/>
        </p:nvSpPr>
        <p:spPr>
          <a:xfrm>
            <a:off x="714375" y="2003822"/>
            <a:ext cx="1285875" cy="475059"/>
          </a:xfrm>
          <a:prstGeom prst="rect">
            <a:avLst/>
          </a:prstGeom>
          <a:solidFill>
            <a:srgbClr val="D4AF37"/>
          </a:solidFill>
          <a:ln/>
        </p:spPr>
        <p:txBody>
          <a:bodyPr/>
          <a:lstStyle/>
          <a:p>
            <a:endParaRPr lang="en-US"/>
          </a:p>
        </p:txBody>
      </p:sp>
      <p:sp>
        <p:nvSpPr>
          <p:cNvPr id="22" name="Text 19"/>
          <p:cNvSpPr/>
          <p:nvPr/>
        </p:nvSpPr>
        <p:spPr>
          <a:xfrm>
            <a:off x="821531" y="2110978"/>
            <a:ext cx="1071563" cy="112514"/>
          </a:xfrm>
          <a:prstGeom prst="rect">
            <a:avLst/>
          </a:prstGeom>
          <a:noFill/>
          <a:ln/>
        </p:spPr>
        <p:txBody>
          <a:bodyPr wrap="none" lIns="0" tIns="0" rIns="0" bIns="0" rtlCol="0" anchor="t">
            <a:spAutoFit/>
          </a:bodyPr>
          <a:lstStyle/>
          <a:p>
            <a:pPr marL="0" indent="0" algn="ctr">
              <a:buNone/>
            </a:pPr>
            <a:r>
              <a:rPr lang="en-US" sz="650" b="1" dirty="0">
                <a:solidFill>
                  <a:srgbClr val="0B132B"/>
                </a:solidFill>
                <a:latin typeface="Montserrat Bold" pitchFamily="34" charset="0"/>
                <a:ea typeface="Montserrat Bold" pitchFamily="34" charset="-122"/>
                <a:cs typeface="Montserrat Bold" pitchFamily="34" charset="-120"/>
              </a:rPr>
              <a:t>Researcher</a:t>
            </a:r>
            <a:endParaRPr lang="en-US" sz="650" dirty="0"/>
          </a:p>
        </p:txBody>
      </p:sp>
      <p:sp>
        <p:nvSpPr>
          <p:cNvPr id="23" name="Text 20"/>
          <p:cNvSpPr/>
          <p:nvPr/>
        </p:nvSpPr>
        <p:spPr>
          <a:xfrm>
            <a:off x="821531" y="2259211"/>
            <a:ext cx="1071563" cy="112514"/>
          </a:xfrm>
          <a:prstGeom prst="rect">
            <a:avLst/>
          </a:prstGeom>
          <a:noFill/>
          <a:ln/>
        </p:spPr>
        <p:txBody>
          <a:bodyPr wrap="none" lIns="0" tIns="0" rIns="0" bIns="0" rtlCol="0" anchor="t">
            <a:spAutoFit/>
          </a:bodyPr>
          <a:lstStyle/>
          <a:p>
            <a:pPr marL="0" indent="0" algn="ctr">
              <a:buNone/>
            </a:pPr>
            <a:r>
              <a:rPr lang="en-US" sz="650" b="1" dirty="0">
                <a:solidFill>
                  <a:srgbClr val="0B132B"/>
                </a:solidFill>
                <a:latin typeface="Montserrat Bold" pitchFamily="34" charset="0"/>
                <a:ea typeface="Montserrat Bold" pitchFamily="34" charset="-122"/>
                <a:cs typeface="Montserrat Bold" pitchFamily="34" charset="-120"/>
              </a:rPr>
              <a:t>(Data Insights)</a:t>
            </a:r>
            <a:endParaRPr lang="en-US" sz="650" dirty="0"/>
          </a:p>
        </p:txBody>
      </p:sp>
      <p:sp>
        <p:nvSpPr>
          <p:cNvPr id="24" name="Shape 21"/>
          <p:cNvSpPr/>
          <p:nvPr/>
        </p:nvSpPr>
        <p:spPr>
          <a:xfrm>
            <a:off x="2000250" y="2237780"/>
            <a:ext cx="857250" cy="7144"/>
          </a:xfrm>
          <a:prstGeom prst="rect">
            <a:avLst/>
          </a:prstGeom>
          <a:solidFill>
            <a:srgbClr val="D4AF37"/>
          </a:solidFill>
          <a:ln/>
        </p:spPr>
        <p:txBody>
          <a:bodyPr/>
          <a:lstStyle/>
          <a:p>
            <a:endParaRPr lang="en-US"/>
          </a:p>
        </p:txBody>
      </p:sp>
      <p:sp>
        <p:nvSpPr>
          <p:cNvPr id="25" name="Text 22"/>
          <p:cNvSpPr/>
          <p:nvPr/>
        </p:nvSpPr>
        <p:spPr>
          <a:xfrm>
            <a:off x="2833055" y="2187773"/>
            <a:ext cx="55364" cy="87511"/>
          </a:xfrm>
          <a:prstGeom prst="rect">
            <a:avLst/>
          </a:prstGeom>
          <a:noFill/>
          <a:ln/>
        </p:spPr>
        <p:txBody>
          <a:bodyPr wrap="none" lIns="0" tIns="0" rIns="0" bIns="0" rtlCol="0" anchor="t">
            <a:spAutoFit/>
          </a:bodyPr>
          <a:lstStyle/>
          <a:p>
            <a:pPr marL="0" indent="0" algn="l">
              <a:buNone/>
            </a:pPr>
            <a:r>
              <a:rPr lang="en-US" sz="500" dirty="0">
                <a:solidFill>
                  <a:srgbClr val="D4AF37"/>
                </a:solidFill>
                <a:latin typeface="Montserrat Light" pitchFamily="34" charset="0"/>
                <a:ea typeface="Montserrat Light" pitchFamily="34" charset="-122"/>
                <a:cs typeface="Montserrat Light" pitchFamily="34" charset="-120"/>
              </a:rPr>
              <a:t>▶</a:t>
            </a:r>
            <a:endParaRPr lang="en-US" sz="500" dirty="0"/>
          </a:p>
        </p:txBody>
      </p:sp>
      <p:sp>
        <p:nvSpPr>
          <p:cNvPr id="26" name="Shape 23"/>
          <p:cNvSpPr/>
          <p:nvPr/>
        </p:nvSpPr>
        <p:spPr>
          <a:xfrm>
            <a:off x="2857500" y="2003822"/>
            <a:ext cx="1285875" cy="475059"/>
          </a:xfrm>
          <a:prstGeom prst="rect">
            <a:avLst/>
          </a:prstGeom>
          <a:solidFill>
            <a:srgbClr val="D4AF37"/>
          </a:solidFill>
          <a:ln/>
        </p:spPr>
        <p:txBody>
          <a:bodyPr/>
          <a:lstStyle/>
          <a:p>
            <a:endParaRPr lang="en-US"/>
          </a:p>
        </p:txBody>
      </p:sp>
      <p:sp>
        <p:nvSpPr>
          <p:cNvPr id="27" name="Text 24"/>
          <p:cNvSpPr/>
          <p:nvPr/>
        </p:nvSpPr>
        <p:spPr>
          <a:xfrm>
            <a:off x="2964656" y="2110978"/>
            <a:ext cx="1071563" cy="112514"/>
          </a:xfrm>
          <a:prstGeom prst="rect">
            <a:avLst/>
          </a:prstGeom>
          <a:noFill/>
          <a:ln/>
        </p:spPr>
        <p:txBody>
          <a:bodyPr wrap="none" lIns="0" tIns="0" rIns="0" bIns="0" rtlCol="0" anchor="t">
            <a:spAutoFit/>
          </a:bodyPr>
          <a:lstStyle/>
          <a:p>
            <a:pPr marL="0" indent="0" algn="ctr">
              <a:buNone/>
            </a:pPr>
            <a:r>
              <a:rPr lang="en-US" sz="650" b="1" dirty="0">
                <a:solidFill>
                  <a:srgbClr val="0B132B"/>
                </a:solidFill>
                <a:latin typeface="Montserrat Bold" pitchFamily="34" charset="0"/>
                <a:ea typeface="Montserrat Bold" pitchFamily="34" charset="-122"/>
                <a:cs typeface="Montserrat Bold" pitchFamily="34" charset="-120"/>
              </a:rPr>
              <a:t>Designer</a:t>
            </a:r>
            <a:endParaRPr lang="en-US" sz="650" dirty="0"/>
          </a:p>
        </p:txBody>
      </p:sp>
      <p:sp>
        <p:nvSpPr>
          <p:cNvPr id="28" name="Text 25"/>
          <p:cNvSpPr/>
          <p:nvPr/>
        </p:nvSpPr>
        <p:spPr>
          <a:xfrm>
            <a:off x="2964656" y="2259211"/>
            <a:ext cx="1071563" cy="112514"/>
          </a:xfrm>
          <a:prstGeom prst="rect">
            <a:avLst/>
          </a:prstGeom>
          <a:noFill/>
          <a:ln/>
        </p:spPr>
        <p:txBody>
          <a:bodyPr wrap="none" lIns="0" tIns="0" rIns="0" bIns="0" rtlCol="0" anchor="t">
            <a:spAutoFit/>
          </a:bodyPr>
          <a:lstStyle/>
          <a:p>
            <a:pPr marL="0" indent="0" algn="ctr">
              <a:buNone/>
            </a:pPr>
            <a:r>
              <a:rPr lang="en-US" sz="650" b="1" dirty="0">
                <a:solidFill>
                  <a:srgbClr val="0B132B"/>
                </a:solidFill>
                <a:latin typeface="Montserrat Bold" pitchFamily="34" charset="0"/>
                <a:ea typeface="Montserrat Bold" pitchFamily="34" charset="-122"/>
                <a:cs typeface="Montserrat Bold" pitchFamily="34" charset="-120"/>
              </a:rPr>
              <a:t>(UX/Gamification)</a:t>
            </a:r>
            <a:endParaRPr lang="en-US" sz="650" dirty="0"/>
          </a:p>
        </p:txBody>
      </p:sp>
      <p:sp>
        <p:nvSpPr>
          <p:cNvPr id="29" name="Shape 26"/>
          <p:cNvSpPr/>
          <p:nvPr/>
        </p:nvSpPr>
        <p:spPr>
          <a:xfrm>
            <a:off x="4143375" y="2237780"/>
            <a:ext cx="857250" cy="7144"/>
          </a:xfrm>
          <a:prstGeom prst="rect">
            <a:avLst/>
          </a:prstGeom>
          <a:solidFill>
            <a:srgbClr val="D4AF37"/>
          </a:solidFill>
          <a:ln/>
        </p:spPr>
        <p:txBody>
          <a:bodyPr/>
          <a:lstStyle/>
          <a:p>
            <a:endParaRPr lang="en-US"/>
          </a:p>
        </p:txBody>
      </p:sp>
      <p:sp>
        <p:nvSpPr>
          <p:cNvPr id="30" name="Text 27"/>
          <p:cNvSpPr/>
          <p:nvPr/>
        </p:nvSpPr>
        <p:spPr>
          <a:xfrm>
            <a:off x="4976180" y="2187773"/>
            <a:ext cx="55364" cy="87511"/>
          </a:xfrm>
          <a:prstGeom prst="rect">
            <a:avLst/>
          </a:prstGeom>
          <a:noFill/>
          <a:ln/>
        </p:spPr>
        <p:txBody>
          <a:bodyPr wrap="none" lIns="0" tIns="0" rIns="0" bIns="0" rtlCol="0" anchor="t">
            <a:spAutoFit/>
          </a:bodyPr>
          <a:lstStyle/>
          <a:p>
            <a:pPr marL="0" indent="0" algn="l">
              <a:buNone/>
            </a:pPr>
            <a:r>
              <a:rPr lang="en-US" sz="500" dirty="0">
                <a:solidFill>
                  <a:srgbClr val="D4AF37"/>
                </a:solidFill>
                <a:latin typeface="Montserrat Light" pitchFamily="34" charset="0"/>
                <a:ea typeface="Montserrat Light" pitchFamily="34" charset="-122"/>
                <a:cs typeface="Montserrat Light" pitchFamily="34" charset="-120"/>
              </a:rPr>
              <a:t>▶</a:t>
            </a:r>
            <a:endParaRPr lang="en-US" sz="500" dirty="0"/>
          </a:p>
        </p:txBody>
      </p:sp>
      <p:sp>
        <p:nvSpPr>
          <p:cNvPr id="31" name="Shape 28"/>
          <p:cNvSpPr/>
          <p:nvPr/>
        </p:nvSpPr>
        <p:spPr>
          <a:xfrm>
            <a:off x="5000625" y="2003822"/>
            <a:ext cx="1285875" cy="475059"/>
          </a:xfrm>
          <a:prstGeom prst="rect">
            <a:avLst/>
          </a:prstGeom>
          <a:solidFill>
            <a:srgbClr val="D4AF37"/>
          </a:solidFill>
          <a:ln/>
        </p:spPr>
        <p:txBody>
          <a:bodyPr/>
          <a:lstStyle/>
          <a:p>
            <a:endParaRPr lang="en-US"/>
          </a:p>
        </p:txBody>
      </p:sp>
      <p:sp>
        <p:nvSpPr>
          <p:cNvPr id="32" name="Text 29"/>
          <p:cNvSpPr/>
          <p:nvPr/>
        </p:nvSpPr>
        <p:spPr>
          <a:xfrm>
            <a:off x="5107781" y="2110978"/>
            <a:ext cx="1071563" cy="112514"/>
          </a:xfrm>
          <a:prstGeom prst="rect">
            <a:avLst/>
          </a:prstGeom>
          <a:noFill/>
          <a:ln/>
        </p:spPr>
        <p:txBody>
          <a:bodyPr wrap="none" lIns="0" tIns="0" rIns="0" bIns="0" rtlCol="0" anchor="t">
            <a:spAutoFit/>
          </a:bodyPr>
          <a:lstStyle/>
          <a:p>
            <a:pPr marL="0" indent="0" algn="ctr">
              <a:buNone/>
            </a:pPr>
            <a:r>
              <a:rPr lang="en-US" sz="650" b="1" dirty="0">
                <a:solidFill>
                  <a:srgbClr val="0B132B"/>
                </a:solidFill>
                <a:latin typeface="Montserrat Bold" pitchFamily="34" charset="0"/>
                <a:ea typeface="Montserrat Bold" pitchFamily="34" charset="-122"/>
                <a:cs typeface="Montserrat Bold" pitchFamily="34" charset="-120"/>
              </a:rPr>
              <a:t>Maker</a:t>
            </a:r>
            <a:endParaRPr lang="en-US" sz="650" dirty="0"/>
          </a:p>
        </p:txBody>
      </p:sp>
      <p:sp>
        <p:nvSpPr>
          <p:cNvPr id="33" name="Text 30"/>
          <p:cNvSpPr/>
          <p:nvPr/>
        </p:nvSpPr>
        <p:spPr>
          <a:xfrm>
            <a:off x="5107781" y="2259211"/>
            <a:ext cx="1071563" cy="112514"/>
          </a:xfrm>
          <a:prstGeom prst="rect">
            <a:avLst/>
          </a:prstGeom>
          <a:noFill/>
          <a:ln/>
        </p:spPr>
        <p:txBody>
          <a:bodyPr wrap="none" lIns="0" tIns="0" rIns="0" bIns="0" rtlCol="0" anchor="t">
            <a:spAutoFit/>
          </a:bodyPr>
          <a:lstStyle/>
          <a:p>
            <a:pPr marL="0" indent="0" algn="ctr">
              <a:buNone/>
            </a:pPr>
            <a:r>
              <a:rPr lang="en-US" sz="650" b="1" dirty="0">
                <a:solidFill>
                  <a:srgbClr val="0B132B"/>
                </a:solidFill>
                <a:latin typeface="Montserrat Bold" pitchFamily="34" charset="0"/>
                <a:ea typeface="Montserrat Bold" pitchFamily="34" charset="-122"/>
                <a:cs typeface="Montserrat Bold" pitchFamily="34" charset="-120"/>
              </a:rPr>
              <a:t>(Implementation)</a:t>
            </a:r>
            <a:endParaRPr lang="en-US" sz="650" dirty="0"/>
          </a:p>
        </p:txBody>
      </p:sp>
      <p:sp>
        <p:nvSpPr>
          <p:cNvPr id="34" name="Shape 31"/>
          <p:cNvSpPr/>
          <p:nvPr/>
        </p:nvSpPr>
        <p:spPr>
          <a:xfrm>
            <a:off x="6286500" y="2237780"/>
            <a:ext cx="857250" cy="7144"/>
          </a:xfrm>
          <a:prstGeom prst="rect">
            <a:avLst/>
          </a:prstGeom>
          <a:solidFill>
            <a:srgbClr val="D4AF37"/>
          </a:solidFill>
          <a:ln/>
        </p:spPr>
        <p:txBody>
          <a:bodyPr/>
          <a:lstStyle/>
          <a:p>
            <a:endParaRPr lang="en-US"/>
          </a:p>
        </p:txBody>
      </p:sp>
      <p:sp>
        <p:nvSpPr>
          <p:cNvPr id="35" name="Text 32"/>
          <p:cNvSpPr/>
          <p:nvPr/>
        </p:nvSpPr>
        <p:spPr>
          <a:xfrm>
            <a:off x="7119305" y="2187773"/>
            <a:ext cx="55364" cy="87511"/>
          </a:xfrm>
          <a:prstGeom prst="rect">
            <a:avLst/>
          </a:prstGeom>
          <a:noFill/>
          <a:ln/>
        </p:spPr>
        <p:txBody>
          <a:bodyPr wrap="none" lIns="0" tIns="0" rIns="0" bIns="0" rtlCol="0" anchor="t">
            <a:spAutoFit/>
          </a:bodyPr>
          <a:lstStyle/>
          <a:p>
            <a:pPr marL="0" indent="0" algn="l">
              <a:buNone/>
            </a:pPr>
            <a:r>
              <a:rPr lang="en-US" sz="500" dirty="0">
                <a:solidFill>
                  <a:srgbClr val="D4AF37"/>
                </a:solidFill>
                <a:latin typeface="Montserrat Light" pitchFamily="34" charset="0"/>
                <a:ea typeface="Montserrat Light" pitchFamily="34" charset="-122"/>
                <a:cs typeface="Montserrat Light" pitchFamily="34" charset="-120"/>
              </a:rPr>
              <a:t>▶</a:t>
            </a:r>
            <a:endParaRPr lang="en-US" sz="500" dirty="0"/>
          </a:p>
        </p:txBody>
      </p:sp>
      <p:sp>
        <p:nvSpPr>
          <p:cNvPr id="36" name="Shape 33"/>
          <p:cNvSpPr/>
          <p:nvPr/>
        </p:nvSpPr>
        <p:spPr>
          <a:xfrm>
            <a:off x="7143750" y="2003822"/>
            <a:ext cx="1285875" cy="475059"/>
          </a:xfrm>
          <a:prstGeom prst="rect">
            <a:avLst/>
          </a:prstGeom>
          <a:solidFill>
            <a:srgbClr val="D4AF37"/>
          </a:solidFill>
          <a:ln/>
        </p:spPr>
        <p:txBody>
          <a:bodyPr/>
          <a:lstStyle/>
          <a:p>
            <a:endParaRPr lang="en-US"/>
          </a:p>
        </p:txBody>
      </p:sp>
      <p:sp>
        <p:nvSpPr>
          <p:cNvPr id="37" name="Text 34"/>
          <p:cNvSpPr/>
          <p:nvPr/>
        </p:nvSpPr>
        <p:spPr>
          <a:xfrm>
            <a:off x="7250906" y="2110978"/>
            <a:ext cx="1071563" cy="112514"/>
          </a:xfrm>
          <a:prstGeom prst="rect">
            <a:avLst/>
          </a:prstGeom>
          <a:noFill/>
          <a:ln/>
        </p:spPr>
        <p:txBody>
          <a:bodyPr wrap="none" lIns="0" tIns="0" rIns="0" bIns="0" rtlCol="0" anchor="t">
            <a:spAutoFit/>
          </a:bodyPr>
          <a:lstStyle/>
          <a:p>
            <a:pPr marL="0" indent="0" algn="ctr">
              <a:buNone/>
            </a:pPr>
            <a:r>
              <a:rPr lang="en-US" sz="650" b="1" dirty="0">
                <a:solidFill>
                  <a:srgbClr val="0B132B"/>
                </a:solidFill>
                <a:latin typeface="Montserrat Bold" pitchFamily="34" charset="0"/>
                <a:ea typeface="Montserrat Bold" pitchFamily="34" charset="-122"/>
                <a:cs typeface="Montserrat Bold" pitchFamily="34" charset="-120"/>
              </a:rPr>
              <a:t>Communicator</a:t>
            </a:r>
            <a:endParaRPr lang="en-US" sz="650" dirty="0"/>
          </a:p>
        </p:txBody>
      </p:sp>
      <p:sp>
        <p:nvSpPr>
          <p:cNvPr id="38" name="Text 35"/>
          <p:cNvSpPr/>
          <p:nvPr/>
        </p:nvSpPr>
        <p:spPr>
          <a:xfrm>
            <a:off x="7250906" y="2259211"/>
            <a:ext cx="1071563" cy="112514"/>
          </a:xfrm>
          <a:prstGeom prst="rect">
            <a:avLst/>
          </a:prstGeom>
          <a:noFill/>
          <a:ln/>
        </p:spPr>
        <p:txBody>
          <a:bodyPr wrap="none" lIns="0" tIns="0" rIns="0" bIns="0" rtlCol="0" anchor="t">
            <a:spAutoFit/>
          </a:bodyPr>
          <a:lstStyle/>
          <a:p>
            <a:pPr marL="0" indent="0" algn="ctr">
              <a:buNone/>
            </a:pPr>
            <a:r>
              <a:rPr lang="en-US" sz="650" b="1" dirty="0">
                <a:solidFill>
                  <a:srgbClr val="0B132B"/>
                </a:solidFill>
                <a:latin typeface="Montserrat Bold" pitchFamily="34" charset="0"/>
                <a:ea typeface="Montserrat Bold" pitchFamily="34" charset="-122"/>
                <a:cs typeface="Montserrat Bold" pitchFamily="34" charset="-120"/>
              </a:rPr>
              <a:t>(GTM/Messaging)</a:t>
            </a:r>
            <a:endParaRPr lang="en-US" sz="650" dirty="0"/>
          </a:p>
        </p:txBody>
      </p:sp>
      <p:sp>
        <p:nvSpPr>
          <p:cNvPr id="39" name="Shape 36"/>
          <p:cNvSpPr/>
          <p:nvPr/>
        </p:nvSpPr>
        <p:spPr>
          <a:xfrm>
            <a:off x="714375" y="3437316"/>
            <a:ext cx="1285875" cy="341114"/>
          </a:xfrm>
          <a:prstGeom prst="rect">
            <a:avLst/>
          </a:prstGeom>
          <a:solidFill>
            <a:srgbClr val="D4AF37">
              <a:alpha val="10000"/>
            </a:srgbClr>
          </a:solidFill>
          <a:ln w="9144">
            <a:solidFill>
              <a:srgbClr val="D4AF37"/>
            </a:solidFill>
            <a:prstDash val="solid"/>
          </a:ln>
        </p:spPr>
        <p:txBody>
          <a:bodyPr/>
          <a:lstStyle/>
          <a:p>
            <a:endParaRPr lang="en-US"/>
          </a:p>
        </p:txBody>
      </p:sp>
      <p:sp>
        <p:nvSpPr>
          <p:cNvPr id="40" name="Text 37"/>
          <p:cNvSpPr/>
          <p:nvPr/>
        </p:nvSpPr>
        <p:spPr>
          <a:xfrm>
            <a:off x="714375" y="3437316"/>
            <a:ext cx="1285875" cy="341114"/>
          </a:xfrm>
          <a:prstGeom prst="rect">
            <a:avLst/>
          </a:prstGeom>
          <a:noFill/>
          <a:ln/>
        </p:spPr>
        <p:txBody>
          <a:bodyPr wrap="none" lIns="127508" tIns="127508" rIns="127508" bIns="127508" rtlCol="0" anchor="t">
            <a:spAutoFit/>
          </a:bodyPr>
          <a:lstStyle/>
          <a:p>
            <a:pPr marL="0" indent="0" algn="ctr">
              <a:buNone/>
            </a:pPr>
            <a:r>
              <a:rPr lang="en-US" sz="650" dirty="0">
                <a:solidFill>
                  <a:srgbClr val="FFFFFF"/>
                </a:solidFill>
                <a:latin typeface="Montserrat Light" pitchFamily="34" charset="0"/>
                <a:ea typeface="Montserrat Light" pitchFamily="34" charset="-122"/>
                <a:cs typeface="Montserrat Light" pitchFamily="34" charset="-120"/>
              </a:rPr>
              <a:t>01-research-brief.md</a:t>
            </a:r>
            <a:endParaRPr lang="en-US" sz="650" dirty="0"/>
          </a:p>
        </p:txBody>
      </p:sp>
      <p:sp>
        <p:nvSpPr>
          <p:cNvPr id="41" name="Shape 38"/>
          <p:cNvSpPr/>
          <p:nvPr/>
        </p:nvSpPr>
        <p:spPr>
          <a:xfrm>
            <a:off x="2000250" y="3604301"/>
            <a:ext cx="857250" cy="7144"/>
          </a:xfrm>
          <a:prstGeom prst="rect">
            <a:avLst/>
          </a:prstGeom>
          <a:solidFill>
            <a:srgbClr val="D4AF37"/>
          </a:solidFill>
          <a:ln/>
        </p:spPr>
        <p:txBody>
          <a:bodyPr/>
          <a:lstStyle/>
          <a:p>
            <a:endParaRPr lang="en-US"/>
          </a:p>
        </p:txBody>
      </p:sp>
      <p:sp>
        <p:nvSpPr>
          <p:cNvPr id="42" name="Text 39"/>
          <p:cNvSpPr/>
          <p:nvPr/>
        </p:nvSpPr>
        <p:spPr>
          <a:xfrm>
            <a:off x="2833055" y="3554295"/>
            <a:ext cx="55364" cy="87511"/>
          </a:xfrm>
          <a:prstGeom prst="rect">
            <a:avLst/>
          </a:prstGeom>
          <a:noFill/>
          <a:ln/>
        </p:spPr>
        <p:txBody>
          <a:bodyPr wrap="none" lIns="0" tIns="0" rIns="0" bIns="0" rtlCol="0" anchor="t">
            <a:spAutoFit/>
          </a:bodyPr>
          <a:lstStyle/>
          <a:p>
            <a:pPr marL="0" indent="0" algn="l">
              <a:buNone/>
            </a:pPr>
            <a:r>
              <a:rPr lang="en-US" sz="500" dirty="0">
                <a:solidFill>
                  <a:srgbClr val="D4AF37"/>
                </a:solidFill>
                <a:latin typeface="Montserrat Light" pitchFamily="34" charset="0"/>
                <a:ea typeface="Montserrat Light" pitchFamily="34" charset="-122"/>
                <a:cs typeface="Montserrat Light" pitchFamily="34" charset="-120"/>
              </a:rPr>
              <a:t>▶</a:t>
            </a:r>
            <a:endParaRPr lang="en-US" sz="500" dirty="0"/>
          </a:p>
        </p:txBody>
      </p:sp>
      <p:sp>
        <p:nvSpPr>
          <p:cNvPr id="43" name="Shape 40"/>
          <p:cNvSpPr/>
          <p:nvPr/>
        </p:nvSpPr>
        <p:spPr>
          <a:xfrm>
            <a:off x="2857500" y="3437316"/>
            <a:ext cx="1285875" cy="341114"/>
          </a:xfrm>
          <a:prstGeom prst="rect">
            <a:avLst/>
          </a:prstGeom>
          <a:solidFill>
            <a:srgbClr val="D4AF37">
              <a:alpha val="10000"/>
            </a:srgbClr>
          </a:solidFill>
          <a:ln w="9144">
            <a:solidFill>
              <a:srgbClr val="D4AF37"/>
            </a:solidFill>
            <a:prstDash val="solid"/>
          </a:ln>
        </p:spPr>
        <p:txBody>
          <a:bodyPr/>
          <a:lstStyle/>
          <a:p>
            <a:endParaRPr lang="en-US" dirty="0"/>
          </a:p>
        </p:txBody>
      </p:sp>
      <p:sp>
        <p:nvSpPr>
          <p:cNvPr id="44" name="Text 41"/>
          <p:cNvSpPr/>
          <p:nvPr/>
        </p:nvSpPr>
        <p:spPr>
          <a:xfrm>
            <a:off x="2857500" y="3437316"/>
            <a:ext cx="1285875" cy="341114"/>
          </a:xfrm>
          <a:prstGeom prst="rect">
            <a:avLst/>
          </a:prstGeom>
          <a:noFill/>
          <a:ln/>
        </p:spPr>
        <p:txBody>
          <a:bodyPr wrap="none" lIns="127508" tIns="127508" rIns="127508" bIns="127508" rtlCol="0" anchor="t">
            <a:spAutoFit/>
          </a:bodyPr>
          <a:lstStyle/>
          <a:p>
            <a:pPr marL="0" indent="0" algn="ctr">
              <a:buNone/>
            </a:pPr>
            <a:r>
              <a:rPr lang="en-US" sz="650" dirty="0">
                <a:solidFill>
                  <a:srgbClr val="FFFFFF"/>
                </a:solidFill>
                <a:latin typeface="Montserrat Light" pitchFamily="34" charset="0"/>
                <a:ea typeface="Montserrat Light" pitchFamily="34" charset="-122"/>
                <a:cs typeface="Montserrat Light" pitchFamily="34" charset="-120"/>
              </a:rPr>
              <a:t>02-design-spec.md</a:t>
            </a:r>
            <a:endParaRPr lang="en-US" sz="650" dirty="0"/>
          </a:p>
        </p:txBody>
      </p:sp>
      <p:sp>
        <p:nvSpPr>
          <p:cNvPr id="45" name="Shape 42"/>
          <p:cNvSpPr/>
          <p:nvPr/>
        </p:nvSpPr>
        <p:spPr>
          <a:xfrm>
            <a:off x="4143375" y="3604301"/>
            <a:ext cx="857250" cy="7144"/>
          </a:xfrm>
          <a:prstGeom prst="rect">
            <a:avLst/>
          </a:prstGeom>
          <a:solidFill>
            <a:srgbClr val="D4AF37"/>
          </a:solidFill>
          <a:ln/>
        </p:spPr>
        <p:txBody>
          <a:bodyPr/>
          <a:lstStyle/>
          <a:p>
            <a:endParaRPr lang="en-US"/>
          </a:p>
        </p:txBody>
      </p:sp>
      <p:sp>
        <p:nvSpPr>
          <p:cNvPr id="46" name="Text 43"/>
          <p:cNvSpPr/>
          <p:nvPr/>
        </p:nvSpPr>
        <p:spPr>
          <a:xfrm>
            <a:off x="4976180" y="3554295"/>
            <a:ext cx="55364" cy="87511"/>
          </a:xfrm>
          <a:prstGeom prst="rect">
            <a:avLst/>
          </a:prstGeom>
          <a:noFill/>
          <a:ln/>
        </p:spPr>
        <p:txBody>
          <a:bodyPr wrap="none" lIns="0" tIns="0" rIns="0" bIns="0" rtlCol="0" anchor="t">
            <a:spAutoFit/>
          </a:bodyPr>
          <a:lstStyle/>
          <a:p>
            <a:pPr marL="0" indent="0" algn="l">
              <a:buNone/>
            </a:pPr>
            <a:r>
              <a:rPr lang="en-US" sz="500" dirty="0">
                <a:solidFill>
                  <a:srgbClr val="D4AF37"/>
                </a:solidFill>
                <a:latin typeface="Montserrat Light" pitchFamily="34" charset="0"/>
                <a:ea typeface="Montserrat Light" pitchFamily="34" charset="-122"/>
                <a:cs typeface="Montserrat Light" pitchFamily="34" charset="-120"/>
              </a:rPr>
              <a:t>▶</a:t>
            </a:r>
            <a:endParaRPr lang="en-US" sz="500" dirty="0"/>
          </a:p>
        </p:txBody>
      </p:sp>
      <p:sp>
        <p:nvSpPr>
          <p:cNvPr id="47" name="Shape 44"/>
          <p:cNvSpPr/>
          <p:nvPr/>
        </p:nvSpPr>
        <p:spPr>
          <a:xfrm>
            <a:off x="5000625" y="3437316"/>
            <a:ext cx="1285875" cy="341114"/>
          </a:xfrm>
          <a:prstGeom prst="rect">
            <a:avLst/>
          </a:prstGeom>
          <a:solidFill>
            <a:srgbClr val="D4AF37">
              <a:alpha val="10000"/>
            </a:srgbClr>
          </a:solidFill>
          <a:ln w="9144">
            <a:solidFill>
              <a:srgbClr val="D4AF37"/>
            </a:solidFill>
            <a:prstDash val="solid"/>
          </a:ln>
        </p:spPr>
        <p:txBody>
          <a:bodyPr/>
          <a:lstStyle/>
          <a:p>
            <a:endParaRPr lang="en-US"/>
          </a:p>
        </p:txBody>
      </p:sp>
      <p:sp>
        <p:nvSpPr>
          <p:cNvPr id="48" name="Text 45"/>
          <p:cNvSpPr/>
          <p:nvPr/>
        </p:nvSpPr>
        <p:spPr>
          <a:xfrm>
            <a:off x="5000625" y="3437316"/>
            <a:ext cx="1285875" cy="341114"/>
          </a:xfrm>
          <a:prstGeom prst="rect">
            <a:avLst/>
          </a:prstGeom>
          <a:noFill/>
          <a:ln/>
        </p:spPr>
        <p:txBody>
          <a:bodyPr wrap="none" lIns="127508" tIns="127508" rIns="127508" bIns="127508" rtlCol="0" anchor="t">
            <a:spAutoFit/>
          </a:bodyPr>
          <a:lstStyle/>
          <a:p>
            <a:pPr marL="0" indent="0" algn="ctr">
              <a:buNone/>
            </a:pPr>
            <a:r>
              <a:rPr lang="en-US" sz="650" dirty="0">
                <a:solidFill>
                  <a:srgbClr val="FFFFFF"/>
                </a:solidFill>
                <a:latin typeface="Montserrat Light" pitchFamily="34" charset="0"/>
                <a:ea typeface="Montserrat Light" pitchFamily="34" charset="-122"/>
                <a:cs typeface="Montserrat Light" pitchFamily="34" charset="-120"/>
              </a:rPr>
              <a:t>Working Prototype</a:t>
            </a:r>
            <a:endParaRPr lang="en-US" sz="650" dirty="0"/>
          </a:p>
        </p:txBody>
      </p:sp>
      <p:sp>
        <p:nvSpPr>
          <p:cNvPr id="49" name="Shape 46"/>
          <p:cNvSpPr/>
          <p:nvPr/>
        </p:nvSpPr>
        <p:spPr>
          <a:xfrm>
            <a:off x="6286500" y="3604301"/>
            <a:ext cx="857250" cy="7144"/>
          </a:xfrm>
          <a:prstGeom prst="rect">
            <a:avLst/>
          </a:prstGeom>
          <a:solidFill>
            <a:srgbClr val="D4AF37"/>
          </a:solidFill>
          <a:ln/>
        </p:spPr>
        <p:txBody>
          <a:bodyPr/>
          <a:lstStyle/>
          <a:p>
            <a:endParaRPr lang="en-US"/>
          </a:p>
        </p:txBody>
      </p:sp>
      <p:sp>
        <p:nvSpPr>
          <p:cNvPr id="50" name="Text 47"/>
          <p:cNvSpPr/>
          <p:nvPr/>
        </p:nvSpPr>
        <p:spPr>
          <a:xfrm>
            <a:off x="7119305" y="3554295"/>
            <a:ext cx="55364" cy="87511"/>
          </a:xfrm>
          <a:prstGeom prst="rect">
            <a:avLst/>
          </a:prstGeom>
          <a:noFill/>
          <a:ln/>
        </p:spPr>
        <p:txBody>
          <a:bodyPr wrap="none" lIns="0" tIns="0" rIns="0" bIns="0" rtlCol="0" anchor="t">
            <a:spAutoFit/>
          </a:bodyPr>
          <a:lstStyle/>
          <a:p>
            <a:pPr marL="0" indent="0" algn="l">
              <a:buNone/>
            </a:pPr>
            <a:r>
              <a:rPr lang="en-US" sz="500" dirty="0">
                <a:solidFill>
                  <a:srgbClr val="D4AF37"/>
                </a:solidFill>
                <a:latin typeface="Montserrat Light" pitchFamily="34" charset="0"/>
                <a:ea typeface="Montserrat Light" pitchFamily="34" charset="-122"/>
                <a:cs typeface="Montserrat Light" pitchFamily="34" charset="-120"/>
              </a:rPr>
              <a:t>▶</a:t>
            </a:r>
            <a:endParaRPr lang="en-US" sz="500" dirty="0"/>
          </a:p>
        </p:txBody>
      </p:sp>
      <p:sp>
        <p:nvSpPr>
          <p:cNvPr id="51" name="Shape 48"/>
          <p:cNvSpPr/>
          <p:nvPr/>
        </p:nvSpPr>
        <p:spPr>
          <a:xfrm>
            <a:off x="7143750" y="3437316"/>
            <a:ext cx="1285875" cy="341114"/>
          </a:xfrm>
          <a:prstGeom prst="rect">
            <a:avLst/>
          </a:prstGeom>
          <a:solidFill>
            <a:srgbClr val="D4AF37">
              <a:alpha val="10000"/>
            </a:srgbClr>
          </a:solidFill>
          <a:ln w="9144">
            <a:solidFill>
              <a:srgbClr val="D4AF37"/>
            </a:solidFill>
            <a:prstDash val="solid"/>
          </a:ln>
        </p:spPr>
        <p:txBody>
          <a:bodyPr/>
          <a:lstStyle/>
          <a:p>
            <a:endParaRPr lang="en-US"/>
          </a:p>
        </p:txBody>
      </p:sp>
      <p:sp>
        <p:nvSpPr>
          <p:cNvPr id="52" name="Text 49"/>
          <p:cNvSpPr/>
          <p:nvPr/>
        </p:nvSpPr>
        <p:spPr>
          <a:xfrm>
            <a:off x="7143750" y="3437316"/>
            <a:ext cx="1285875" cy="341114"/>
          </a:xfrm>
          <a:prstGeom prst="rect">
            <a:avLst/>
          </a:prstGeom>
          <a:noFill/>
          <a:ln/>
        </p:spPr>
        <p:txBody>
          <a:bodyPr wrap="none" lIns="127508" tIns="127508" rIns="127508" bIns="127508" rtlCol="0" anchor="t">
            <a:spAutoFit/>
          </a:bodyPr>
          <a:lstStyle/>
          <a:p>
            <a:pPr marL="0" indent="0" algn="ctr">
              <a:buNone/>
            </a:pPr>
            <a:r>
              <a:rPr lang="en-US" sz="650" dirty="0">
                <a:solidFill>
                  <a:srgbClr val="FFFFFF"/>
                </a:solidFill>
                <a:latin typeface="Montserrat Light" pitchFamily="34" charset="0"/>
                <a:ea typeface="Montserrat Light" pitchFamily="34" charset="-122"/>
                <a:cs typeface="Montserrat Light" pitchFamily="34" charset="-120"/>
              </a:rPr>
              <a:t>04-gtm-pack.md</a:t>
            </a:r>
            <a:endParaRPr lang="en-US" sz="650" dirty="0"/>
          </a:p>
        </p:txBody>
      </p:sp>
      <p:sp>
        <p:nvSpPr>
          <p:cNvPr id="53" name="Shape 50"/>
          <p:cNvSpPr/>
          <p:nvPr/>
        </p:nvSpPr>
        <p:spPr>
          <a:xfrm>
            <a:off x="714375" y="4221956"/>
            <a:ext cx="7715250" cy="353616"/>
          </a:xfrm>
          <a:prstGeom prst="rect">
            <a:avLst/>
          </a:prstGeom>
          <a:solidFill>
            <a:srgbClr val="FFFFFF"/>
          </a:solidFill>
          <a:ln/>
        </p:spPr>
        <p:txBody>
          <a:bodyPr/>
          <a:lstStyle/>
          <a:p>
            <a:endParaRPr lang="en-US" dirty="0"/>
          </a:p>
        </p:txBody>
      </p:sp>
      <p:sp>
        <p:nvSpPr>
          <p:cNvPr id="54" name="Text 51"/>
          <p:cNvSpPr/>
          <p:nvPr/>
        </p:nvSpPr>
        <p:spPr>
          <a:xfrm>
            <a:off x="714375" y="4221956"/>
            <a:ext cx="7715250" cy="353616"/>
          </a:xfrm>
          <a:prstGeom prst="rect">
            <a:avLst/>
          </a:prstGeom>
          <a:noFill/>
          <a:ln/>
        </p:spPr>
        <p:txBody>
          <a:bodyPr wrap="square" lIns="127508" tIns="127508" rIns="127508" bIns="127508" rtlCol="0" anchor="t">
            <a:spAutoFit/>
          </a:bodyPr>
          <a:lstStyle/>
          <a:p>
            <a:pPr marL="0" indent="0" algn="ctr">
              <a:buNone/>
            </a:pPr>
            <a:r>
              <a:rPr lang="en-US" sz="800" b="1" dirty="0">
                <a:solidFill>
                  <a:srgbClr val="0B132B"/>
                </a:solidFill>
                <a:latin typeface="Montserrat Bold" pitchFamily="34" charset="0"/>
                <a:ea typeface="Montserrat Bold" pitchFamily="34" charset="-122"/>
                <a:cs typeface="Montserrat Bold" pitchFamily="34" charset="-120"/>
              </a:rPr>
              <a:t>MANAGER AGENT: Governance, Quality Gates &amp; Final Synthesis (05-executive-summary.md)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572500" cy="457200"/>
          </a:xfrm>
          <a:prstGeom prst="rect">
            <a:avLst/>
          </a:prstGeom>
          <a:noFill/>
          <a:ln/>
        </p:spPr>
        <p:txBody>
          <a:bodyPr wrap="square" lIns="0" tIns="0" rIns="0" bIns="0" rtlCol="0" anchor="t">
            <a:spAutoFit/>
          </a:bodyPr>
          <a:lstStyle/>
          <a:p>
            <a:pPr marL="0" indent="0" algn="l">
              <a:buNone/>
            </a:pPr>
            <a:r>
              <a:rPr lang="en-US" sz="2450" b="1" dirty="0">
                <a:solidFill>
                  <a:srgbClr val="D4AF37"/>
                </a:solidFill>
                <a:latin typeface="Playfair Display ExtraBold" pitchFamily="34" charset="0"/>
                <a:ea typeface="Playfair Display ExtraBold" pitchFamily="34" charset="-122"/>
                <a:cs typeface="Playfair Display ExtraBold" pitchFamily="34" charset="-120"/>
              </a:rPr>
              <a:t>Agent 1: Dr. Aiko Tanaka</a:t>
            </a:r>
            <a:endParaRPr lang="en-US" sz="2450" dirty="0"/>
          </a:p>
        </p:txBody>
      </p:sp>
      <p:sp>
        <p:nvSpPr>
          <p:cNvPr id="4" name="Text 1"/>
          <p:cNvSpPr/>
          <p:nvPr/>
        </p:nvSpPr>
        <p:spPr>
          <a:xfrm>
            <a:off x="571500" y="1328738"/>
            <a:ext cx="3214688" cy="121444"/>
          </a:xfrm>
          <a:prstGeom prst="rect">
            <a:avLst/>
          </a:prstGeom>
          <a:noFill/>
          <a:ln/>
        </p:spPr>
        <p:txBody>
          <a:bodyPr wrap="square" lIns="0" tIns="0" rIns="0" bIns="0" rtlCol="0" anchor="t">
            <a:spAutoFit/>
          </a:bodyPr>
          <a:lstStyle/>
          <a:p>
            <a:pPr marL="0" indent="0" algn="l">
              <a:buNone/>
            </a:pPr>
            <a:r>
              <a:rPr lang="en-US" sz="700" b="1" kern="0" spc="2" dirty="0">
                <a:solidFill>
                  <a:srgbClr val="D4AF37"/>
                </a:solidFill>
                <a:latin typeface="Montserrat ExtraBold" pitchFamily="34" charset="0"/>
                <a:ea typeface="Montserrat ExtraBold" pitchFamily="34" charset="-122"/>
                <a:cs typeface="Montserrat ExtraBold" pitchFamily="34" charset="-120"/>
              </a:rPr>
              <a:t>ROLE</a:t>
            </a:r>
            <a:endParaRPr lang="en-US" sz="700" dirty="0"/>
          </a:p>
        </p:txBody>
      </p:sp>
      <p:sp>
        <p:nvSpPr>
          <p:cNvPr id="5" name="Text 2"/>
          <p:cNvSpPr/>
          <p:nvPr/>
        </p:nvSpPr>
        <p:spPr>
          <a:xfrm>
            <a:off x="571500" y="1507331"/>
            <a:ext cx="3214688" cy="303609"/>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Playfair Display ExtraBold" pitchFamily="34" charset="0"/>
                <a:ea typeface="Playfair Display ExtraBold" pitchFamily="34" charset="-122"/>
                <a:cs typeface="Playfair Display ExtraBold" pitchFamily="34" charset="-120"/>
              </a:rPr>
              <a:t>Researcher</a:t>
            </a:r>
            <a:endParaRPr lang="en-US" sz="1600" dirty="0"/>
          </a:p>
        </p:txBody>
      </p:sp>
      <p:sp>
        <p:nvSpPr>
          <p:cNvPr id="6" name="Text 3"/>
          <p:cNvSpPr/>
          <p:nvPr/>
        </p:nvSpPr>
        <p:spPr>
          <a:xfrm>
            <a:off x="571500" y="2025253"/>
            <a:ext cx="3214688" cy="121444"/>
          </a:xfrm>
          <a:prstGeom prst="rect">
            <a:avLst/>
          </a:prstGeom>
          <a:noFill/>
          <a:ln/>
        </p:spPr>
        <p:txBody>
          <a:bodyPr wrap="square" lIns="0" tIns="0" rIns="0" bIns="0" rtlCol="0" anchor="t">
            <a:spAutoFit/>
          </a:bodyPr>
          <a:lstStyle/>
          <a:p>
            <a:pPr marL="0" indent="0" algn="l">
              <a:buNone/>
            </a:pPr>
            <a:r>
              <a:rPr lang="en-US" sz="700" b="1" kern="0" spc="2" dirty="0">
                <a:solidFill>
                  <a:srgbClr val="D4AF37"/>
                </a:solidFill>
                <a:latin typeface="Montserrat ExtraBold" pitchFamily="34" charset="0"/>
                <a:ea typeface="Montserrat ExtraBold" pitchFamily="34" charset="-122"/>
                <a:cs typeface="Montserrat ExtraBold" pitchFamily="34" charset="-120"/>
              </a:rPr>
              <a:t>PERSONALITY</a:t>
            </a:r>
            <a:endParaRPr lang="en-US" sz="700" dirty="0"/>
          </a:p>
        </p:txBody>
      </p:sp>
      <p:sp>
        <p:nvSpPr>
          <p:cNvPr id="7" name="Text 4"/>
          <p:cNvSpPr/>
          <p:nvPr/>
        </p:nvSpPr>
        <p:spPr>
          <a:xfrm>
            <a:off x="571500" y="2203847"/>
            <a:ext cx="3214688" cy="689548"/>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EAEAEA"/>
                </a:solidFill>
                <a:latin typeface="Montserrat Light" pitchFamily="34" charset="0"/>
                <a:ea typeface="Montserrat Light" pitchFamily="34" charset="-122"/>
                <a:cs typeface="Montserrat Light" pitchFamily="34" charset="-120"/>
              </a:rPr>
              <a:t>Rigorous, skeptical and academic. Dr. Tanaka holds a PhD in applied behavioral economics and values data over anecdote. Her voice is precise British-English, avoiding all marketing-speak.</a:t>
            </a:r>
            <a:endParaRPr lang="en-US" sz="950" dirty="0"/>
          </a:p>
        </p:txBody>
      </p:sp>
      <p:sp>
        <p:nvSpPr>
          <p:cNvPr id="8" name="Text 5"/>
          <p:cNvSpPr/>
          <p:nvPr/>
        </p:nvSpPr>
        <p:spPr>
          <a:xfrm>
            <a:off x="571500" y="3189684"/>
            <a:ext cx="3214688" cy="121444"/>
          </a:xfrm>
          <a:prstGeom prst="rect">
            <a:avLst/>
          </a:prstGeom>
          <a:noFill/>
          <a:ln/>
        </p:spPr>
        <p:txBody>
          <a:bodyPr wrap="square" lIns="0" tIns="0" rIns="0" bIns="0" rtlCol="0" anchor="t">
            <a:spAutoFit/>
          </a:bodyPr>
          <a:lstStyle/>
          <a:p>
            <a:pPr marL="0" indent="0" algn="l">
              <a:buNone/>
            </a:pPr>
            <a:r>
              <a:rPr lang="en-US" sz="700" b="1" kern="0" spc="2" dirty="0">
                <a:solidFill>
                  <a:srgbClr val="D4AF37"/>
                </a:solidFill>
                <a:latin typeface="Montserrat ExtraBold" pitchFamily="34" charset="0"/>
                <a:ea typeface="Montserrat ExtraBold" pitchFamily="34" charset="-122"/>
                <a:cs typeface="Montserrat ExtraBold" pitchFamily="34" charset="-120"/>
              </a:rPr>
              <a:t>OUTPUT ARTIFACT</a:t>
            </a:r>
            <a:endParaRPr lang="en-US" sz="700" dirty="0"/>
          </a:p>
        </p:txBody>
      </p:sp>
      <p:sp>
        <p:nvSpPr>
          <p:cNvPr id="9" name="Text 6"/>
          <p:cNvSpPr/>
          <p:nvPr/>
        </p:nvSpPr>
        <p:spPr>
          <a:xfrm>
            <a:off x="571500" y="3368278"/>
            <a:ext cx="3214688" cy="57864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EAEAEA"/>
                </a:solidFill>
                <a:latin typeface="Montserrat ExtraBold" pitchFamily="34" charset="0"/>
                <a:ea typeface="Montserrat ExtraBold" pitchFamily="34" charset="-122"/>
                <a:cs typeface="Montserrat ExtraBold" pitchFamily="34" charset="-120"/>
              </a:rPr>
              <a:t>01-research-brief.md</a:t>
            </a:r>
            <a:r>
              <a:rPr lang="en-US" sz="950" dirty="0">
                <a:solidFill>
                  <a:srgbClr val="EAEAEA"/>
                </a:solidFill>
                <a:latin typeface="Montserrat Light" pitchFamily="34" charset="0"/>
                <a:ea typeface="Montserrat Light" pitchFamily="34" charset="-122"/>
                <a:cs typeface="Montserrat Light" pitchFamily="34" charset="-120"/>
              </a:rPr>
              <a:t>: A deep-dive analysis of loyalty data, identifying at-risk segments and formulating testable churn hypotheses.</a:t>
            </a:r>
            <a:endParaRPr lang="en-US" sz="900" dirty="0"/>
          </a:p>
        </p:txBody>
      </p:sp>
      <p:sp>
        <p:nvSpPr>
          <p:cNvPr id="10" name="Text 7"/>
          <p:cNvSpPr/>
          <p:nvPr/>
        </p:nvSpPr>
        <p:spPr>
          <a:xfrm>
            <a:off x="4214813" y="1328738"/>
            <a:ext cx="4357688" cy="121444"/>
          </a:xfrm>
          <a:prstGeom prst="rect">
            <a:avLst/>
          </a:prstGeom>
          <a:noFill/>
          <a:ln/>
        </p:spPr>
        <p:txBody>
          <a:bodyPr wrap="square" lIns="0" tIns="0" rIns="0" bIns="0" rtlCol="0" anchor="t">
            <a:spAutoFit/>
          </a:bodyPr>
          <a:lstStyle/>
          <a:p>
            <a:pPr marL="0" indent="0" algn="l">
              <a:buNone/>
            </a:pPr>
            <a:r>
              <a:rPr lang="en-US" sz="700" b="1" kern="0" spc="2" dirty="0">
                <a:solidFill>
                  <a:srgbClr val="D4AF37"/>
                </a:solidFill>
                <a:latin typeface="Montserrat ExtraBold" pitchFamily="34" charset="0"/>
                <a:ea typeface="Montserrat ExtraBold" pitchFamily="34" charset="-122"/>
                <a:cs typeface="Montserrat ExtraBold" pitchFamily="34" charset="-120"/>
              </a:rPr>
              <a:t>SYSTEM PROMPT EXCERPT</a:t>
            </a:r>
            <a:endParaRPr lang="en-US" sz="700" dirty="0"/>
          </a:p>
        </p:txBody>
      </p:sp>
      <p:sp>
        <p:nvSpPr>
          <p:cNvPr id="11" name="Shape 8"/>
          <p:cNvSpPr/>
          <p:nvPr/>
        </p:nvSpPr>
        <p:spPr>
          <a:xfrm>
            <a:off x="4214813" y="1507331"/>
            <a:ext cx="4357688" cy="2000250"/>
          </a:xfrm>
          <a:prstGeom prst="rect">
            <a:avLst/>
          </a:prstGeom>
          <a:solidFill>
            <a:srgbClr val="FFFFFF">
              <a:alpha val="5000"/>
            </a:srgbClr>
          </a:solidFill>
          <a:ln/>
        </p:spPr>
        <p:txBody>
          <a:bodyPr/>
          <a:lstStyle/>
          <a:p>
            <a:endParaRPr lang="en-US"/>
          </a:p>
        </p:txBody>
      </p:sp>
      <p:sp>
        <p:nvSpPr>
          <p:cNvPr id="12" name="Shape 9"/>
          <p:cNvSpPr/>
          <p:nvPr/>
        </p:nvSpPr>
        <p:spPr>
          <a:xfrm>
            <a:off x="4214813" y="1507331"/>
            <a:ext cx="4357688" cy="14288"/>
          </a:xfrm>
          <a:prstGeom prst="rect">
            <a:avLst/>
          </a:prstGeom>
          <a:solidFill>
            <a:srgbClr val="D4AF37"/>
          </a:solidFill>
          <a:ln/>
        </p:spPr>
        <p:txBody>
          <a:bodyPr/>
          <a:lstStyle/>
          <a:p>
            <a:endParaRPr lang="en-US"/>
          </a:p>
        </p:txBody>
      </p:sp>
      <p:sp>
        <p:nvSpPr>
          <p:cNvPr id="13" name="Text 10"/>
          <p:cNvSpPr/>
          <p:nvPr/>
        </p:nvSpPr>
        <p:spPr>
          <a:xfrm>
            <a:off x="4393406" y="1685925"/>
            <a:ext cx="4000500" cy="772134"/>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D4AF37"/>
                </a:solidFill>
                <a:latin typeface="Courier New" pitchFamily="34" charset="0"/>
                <a:ea typeface="Courier New" pitchFamily="34" charset="-122"/>
                <a:cs typeface="Courier New" pitchFamily="34" charset="-120"/>
              </a:rPr>
              <a:t># Researcher: "Dr. Aiko Tanaka"
 You are Principal Customer Intelligence Analyst at SkyJet Airways. Your superpower is deep analysis and pattern recognition. You find the signal others miss, and you refuse to accept anecdote as evidence.
 Temperament: Rigorous, sceptical, quietly impatient with hand-waving. You say, "the data suggests" rather than "I think".</a:t>
            </a:r>
            <a:endParaRPr lang="en-US" sz="750" dirty="0"/>
          </a:p>
        </p:txBody>
      </p:sp>
      <p:sp>
        <p:nvSpPr>
          <p:cNvPr id="14" name="Text 11"/>
          <p:cNvSpPr/>
          <p:nvPr/>
        </p:nvSpPr>
        <p:spPr>
          <a:xfrm>
            <a:off x="4214813" y="3721894"/>
            <a:ext cx="4357688" cy="121444"/>
          </a:xfrm>
          <a:prstGeom prst="rect">
            <a:avLst/>
          </a:prstGeom>
          <a:noFill/>
          <a:ln/>
        </p:spPr>
        <p:txBody>
          <a:bodyPr wrap="square" lIns="0" tIns="0" rIns="0" bIns="0" rtlCol="0" anchor="t">
            <a:spAutoFit/>
          </a:bodyPr>
          <a:lstStyle/>
          <a:p>
            <a:pPr marL="0" indent="0" algn="l">
              <a:buNone/>
            </a:pPr>
            <a:r>
              <a:rPr lang="en-US" sz="700" b="1" kern="0" spc="2" dirty="0">
                <a:solidFill>
                  <a:srgbClr val="D4AF37"/>
                </a:solidFill>
                <a:latin typeface="Montserrat ExtraBold" pitchFamily="34" charset="0"/>
                <a:ea typeface="Montserrat ExtraBold" pitchFamily="34" charset="-122"/>
                <a:cs typeface="Montserrat ExtraBold" pitchFamily="34" charset="-120"/>
              </a:rPr>
              <a:t>DOMAIN EXPERTISE</a:t>
            </a:r>
            <a:endParaRPr lang="en-US" sz="700" dirty="0"/>
          </a:p>
        </p:txBody>
      </p:sp>
      <p:sp>
        <p:nvSpPr>
          <p:cNvPr id="15" name="Text 12"/>
          <p:cNvSpPr/>
          <p:nvPr/>
        </p:nvSpPr>
        <p:spPr>
          <a:xfrm>
            <a:off x="4214813" y="3900488"/>
            <a:ext cx="4357688" cy="338682"/>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EAEAEA"/>
                </a:solidFill>
                <a:latin typeface="Montserrat Light" pitchFamily="34" charset="0"/>
                <a:ea typeface="Montserrat Light" pitchFamily="34" charset="-122"/>
                <a:cs typeface="Montserrat Light" pitchFamily="34" charset="-120"/>
              </a:rPr>
              <a:t>Aviation loyalty landscape, status qualification mechanics, alliance redemption and behavioral patterns like "silent disengagement."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572500" cy="457200"/>
          </a:xfrm>
          <a:prstGeom prst="rect">
            <a:avLst/>
          </a:prstGeom>
          <a:noFill/>
          <a:ln/>
        </p:spPr>
        <p:txBody>
          <a:bodyPr wrap="square" lIns="0" tIns="0" rIns="0" bIns="0" rtlCol="0" anchor="t">
            <a:spAutoFit/>
          </a:bodyPr>
          <a:lstStyle/>
          <a:p>
            <a:pPr marL="0" indent="0" algn="l">
              <a:buNone/>
            </a:pPr>
            <a:r>
              <a:rPr lang="en-US" sz="2450" b="1" dirty="0">
                <a:solidFill>
                  <a:srgbClr val="D4AF37"/>
                </a:solidFill>
                <a:latin typeface="Playfair Display ExtraBold" pitchFamily="34" charset="0"/>
                <a:ea typeface="Playfair Display ExtraBold" pitchFamily="34" charset="-122"/>
                <a:cs typeface="Playfair Display ExtraBold" pitchFamily="34" charset="-120"/>
              </a:rPr>
              <a:t>Agent 2: Leo Marín (Designer)</a:t>
            </a:r>
            <a:endParaRPr lang="en-US" sz="2450" dirty="0"/>
          </a:p>
        </p:txBody>
      </p:sp>
      <p:sp>
        <p:nvSpPr>
          <p:cNvPr id="4" name="Text 1"/>
          <p:cNvSpPr/>
          <p:nvPr/>
        </p:nvSpPr>
        <p:spPr>
          <a:xfrm>
            <a:off x="571500" y="1400175"/>
            <a:ext cx="3214688" cy="303609"/>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Playfair Display ExtraBold" pitchFamily="34" charset="0"/>
                <a:ea typeface="Playfair Display ExtraBold" pitchFamily="34" charset="-122"/>
                <a:cs typeface="Playfair Display ExtraBold" pitchFamily="34" charset="-120"/>
              </a:rPr>
              <a:t>The Experience Architect</a:t>
            </a:r>
            <a:endParaRPr lang="en-US" sz="1600" dirty="0"/>
          </a:p>
        </p:txBody>
      </p:sp>
      <p:sp>
        <p:nvSpPr>
          <p:cNvPr id="5" name="Text 2"/>
          <p:cNvSpPr/>
          <p:nvPr/>
        </p:nvSpPr>
        <p:spPr>
          <a:xfrm>
            <a:off x="571500" y="1846659"/>
            <a:ext cx="3214688" cy="617153"/>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EAEAEA"/>
                </a:solidFill>
                <a:latin typeface="Montserrat Bold" pitchFamily="34" charset="0"/>
                <a:ea typeface="Montserrat Bold" pitchFamily="34" charset="-122"/>
                <a:cs typeface="Montserrat Bold" pitchFamily="34" charset="-120"/>
              </a:rPr>
              <a:t>Role:</a:t>
            </a:r>
            <a:r>
              <a:rPr lang="en-US" sz="950" dirty="0">
                <a:solidFill>
                  <a:srgbClr val="EAEAEA"/>
                </a:solidFill>
                <a:latin typeface="Montserrat Light" pitchFamily="34" charset="0"/>
                <a:ea typeface="Montserrat Light" pitchFamily="34" charset="-122"/>
                <a:cs typeface="Montserrat Light" pitchFamily="34" charset="-120"/>
              </a:rPr>
              <a:t> Lead Experience Designer. Leo translates analytical churn hypotheses into human-centered intervention journeys.</a:t>
            </a:r>
            <a:endParaRPr lang="en-US" sz="900" dirty="0"/>
          </a:p>
        </p:txBody>
      </p:sp>
      <p:sp>
        <p:nvSpPr>
          <p:cNvPr id="6" name="Text 3"/>
          <p:cNvSpPr/>
          <p:nvPr/>
        </p:nvSpPr>
        <p:spPr>
          <a:xfrm>
            <a:off x="571500" y="2642406"/>
            <a:ext cx="3214688" cy="822871"/>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EAEAEA"/>
                </a:solidFill>
                <a:latin typeface="Montserrat Bold" pitchFamily="34" charset="0"/>
                <a:ea typeface="Montserrat Bold" pitchFamily="34" charset="-122"/>
                <a:cs typeface="Montserrat Bold" pitchFamily="34" charset="-120"/>
              </a:rPr>
              <a:t>Expertise:</a:t>
            </a:r>
            <a:r>
              <a:rPr lang="en-US" sz="950" dirty="0">
                <a:solidFill>
                  <a:srgbClr val="EAEAEA"/>
                </a:solidFill>
                <a:latin typeface="Montserrat Light" pitchFamily="34" charset="0"/>
                <a:ea typeface="Montserrat Light" pitchFamily="34" charset="-122"/>
                <a:cs typeface="Montserrat Light" pitchFamily="34" charset="-120"/>
              </a:rPr>
              <a:t> Service blueprinting and the Octalysis gamification framework. He ensures every touchpoint is ethically grounded and emotionally resonant.</a:t>
            </a:r>
            <a:endParaRPr lang="en-US" sz="900" dirty="0"/>
          </a:p>
        </p:txBody>
      </p:sp>
      <p:sp>
        <p:nvSpPr>
          <p:cNvPr id="7" name="Text 4"/>
          <p:cNvSpPr/>
          <p:nvPr/>
        </p:nvSpPr>
        <p:spPr>
          <a:xfrm>
            <a:off x="571500" y="3643871"/>
            <a:ext cx="3214688" cy="617153"/>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EAEAEA"/>
                </a:solidFill>
                <a:latin typeface="Montserrat Bold" pitchFamily="34" charset="0"/>
                <a:ea typeface="Montserrat Bold" pitchFamily="34" charset="-122"/>
                <a:cs typeface="Montserrat Bold" pitchFamily="34" charset="-120"/>
              </a:rPr>
              <a:t>Temperament:</a:t>
            </a:r>
            <a:r>
              <a:rPr lang="en-US" sz="950" dirty="0">
                <a:solidFill>
                  <a:srgbClr val="EAEAEA"/>
                </a:solidFill>
                <a:latin typeface="Montserrat Light" pitchFamily="34" charset="0"/>
                <a:ea typeface="Montserrat Light" pitchFamily="34" charset="-122"/>
                <a:cs typeface="Montserrat Light" pitchFamily="34" charset="-120"/>
              </a:rPr>
              <a:t> Empathetic and innovative. He advocates fiercely for the flyer, balancing "White-Hat" empowerment with "Black-Hat" urgency.</a:t>
            </a:r>
            <a:endParaRPr lang="en-US" sz="900" dirty="0"/>
          </a:p>
        </p:txBody>
      </p:sp>
      <p:sp>
        <p:nvSpPr>
          <p:cNvPr id="8" name="Shape 5"/>
          <p:cNvSpPr/>
          <p:nvPr/>
        </p:nvSpPr>
        <p:spPr>
          <a:xfrm>
            <a:off x="4214813" y="1400175"/>
            <a:ext cx="4357688" cy="3039442"/>
          </a:xfrm>
          <a:prstGeom prst="rect">
            <a:avLst/>
          </a:prstGeom>
          <a:solidFill>
            <a:srgbClr val="FFFFFF">
              <a:alpha val="5000"/>
            </a:srgbClr>
          </a:solidFill>
          <a:ln/>
        </p:spPr>
        <p:txBody>
          <a:bodyPr/>
          <a:lstStyle/>
          <a:p>
            <a:endParaRPr lang="en-US"/>
          </a:p>
        </p:txBody>
      </p:sp>
      <p:sp>
        <p:nvSpPr>
          <p:cNvPr id="9" name="Text 6"/>
          <p:cNvSpPr/>
          <p:nvPr/>
        </p:nvSpPr>
        <p:spPr>
          <a:xfrm>
            <a:off x="4429125" y="1614488"/>
            <a:ext cx="3929063" cy="228600"/>
          </a:xfrm>
          <a:prstGeom prst="rect">
            <a:avLst/>
          </a:prstGeom>
          <a:noFill/>
          <a:ln/>
        </p:spPr>
        <p:txBody>
          <a:bodyPr wrap="square" lIns="0" tIns="0" rIns="0" bIns="0" rtlCol="0" anchor="t">
            <a:spAutoFit/>
          </a:bodyPr>
          <a:lstStyle/>
          <a:p>
            <a:pPr marL="0" indent="0" algn="l">
              <a:buNone/>
            </a:pPr>
            <a:r>
              <a:rPr lang="en-US" sz="1200" b="1" dirty="0">
                <a:solidFill>
                  <a:srgbClr val="D4AF37"/>
                </a:solidFill>
                <a:latin typeface="Playfair Display ExtraBold" pitchFamily="34" charset="0"/>
                <a:ea typeface="Playfair Display ExtraBold" pitchFamily="34" charset="-122"/>
                <a:cs typeface="Playfair Display ExtraBold" pitchFamily="34" charset="-120"/>
              </a:rPr>
              <a:t>System Prompt &amp; Output</a:t>
            </a:r>
            <a:endParaRPr lang="en-US" sz="1200" dirty="0"/>
          </a:p>
        </p:txBody>
      </p:sp>
      <p:sp>
        <p:nvSpPr>
          <p:cNvPr id="10" name="Text 7"/>
          <p:cNvSpPr/>
          <p:nvPr/>
        </p:nvSpPr>
        <p:spPr>
          <a:xfrm>
            <a:off x="4429125" y="1950244"/>
            <a:ext cx="3929063" cy="980005"/>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D4AF37"/>
                </a:solidFill>
                <a:latin typeface="Courier New" pitchFamily="34" charset="0"/>
                <a:ea typeface="Courier New" pitchFamily="34" charset="-122"/>
                <a:cs typeface="Courier New" pitchFamily="34" charset="-120"/>
              </a:rPr>
              <a:t># Designer: "Leo Marín"</a:t>
            </a:r>
            <a:endParaRPr lang="en-US" sz="750" dirty="0"/>
          </a:p>
          <a:p>
            <a:pPr marL="0" indent="0" algn="l">
              <a:lnSpc>
                <a:spcPct val="112000"/>
              </a:lnSpc>
              <a:buNone/>
            </a:pPr>
            <a:r>
              <a:rPr lang="en-US" sz="750" dirty="0">
                <a:solidFill>
                  <a:srgbClr val="D4AF37"/>
                </a:solidFill>
                <a:latin typeface="Courier New" pitchFamily="34" charset="0"/>
                <a:ea typeface="Courier New" pitchFamily="34" charset="-122"/>
                <a:cs typeface="Courier New" pitchFamily="34" charset="-120"/>
              </a:rPr>
              <a:t>Your superpower is creative problem-solving and ethical design thinking. You live and breathe user journeys and the Octalysis framework.</a:t>
            </a:r>
            <a:endParaRPr lang="en-US" sz="750" dirty="0"/>
          </a:p>
          <a:p>
            <a:pPr marL="0" indent="0" algn="l">
              <a:lnSpc>
                <a:spcPct val="112000"/>
              </a:lnSpc>
              <a:buNone/>
            </a:pPr>
            <a:r>
              <a:rPr lang="en-US" sz="750" dirty="0">
                <a:solidFill>
                  <a:srgbClr val="D4AF37"/>
                </a:solidFill>
                <a:latin typeface="Courier New" pitchFamily="34" charset="0"/>
                <a:ea typeface="Courier New" pitchFamily="34" charset="-122"/>
                <a:cs typeface="Courier New" pitchFamily="34" charset="-120"/>
              </a:rPr>
              <a:t>Voice: Clear, encouraging, focused on impact. Use design language but avoid jargon.</a:t>
            </a:r>
            <a:endParaRPr lang="en-US" sz="750" dirty="0"/>
          </a:p>
        </p:txBody>
      </p:sp>
      <p:sp>
        <p:nvSpPr>
          <p:cNvPr id="11" name="Text 8"/>
          <p:cNvSpPr/>
          <p:nvPr/>
        </p:nvSpPr>
        <p:spPr>
          <a:xfrm>
            <a:off x="4429125" y="3073124"/>
            <a:ext cx="3929063" cy="139303"/>
          </a:xfrm>
          <a:prstGeom prst="rect">
            <a:avLst/>
          </a:prstGeom>
          <a:noFill/>
          <a:ln/>
        </p:spPr>
        <p:txBody>
          <a:bodyPr wrap="square" lIns="0" tIns="0" rIns="0" bIns="0" rtlCol="0" anchor="t">
            <a:spAutoFit/>
          </a:bodyPr>
          <a:lstStyle/>
          <a:p>
            <a:pPr marL="0" indent="0" algn="l">
              <a:buNone/>
            </a:pPr>
            <a:r>
              <a:rPr lang="en-US" sz="800" b="1" dirty="0">
                <a:solidFill>
                  <a:srgbClr val="EAEAEA"/>
                </a:solidFill>
                <a:latin typeface="Montserrat Bold" pitchFamily="34" charset="0"/>
                <a:ea typeface="Montserrat Bold" pitchFamily="34" charset="-122"/>
                <a:cs typeface="Montserrat Bold" pitchFamily="34" charset="-120"/>
              </a:rPr>
              <a:t>Produces:</a:t>
            </a:r>
            <a:r>
              <a:rPr lang="en-US" sz="850" dirty="0">
                <a:solidFill>
                  <a:srgbClr val="EAEAEA"/>
                </a:solidFill>
                <a:latin typeface="Montserrat Light" pitchFamily="34" charset="0"/>
                <a:ea typeface="Montserrat Light" pitchFamily="34" charset="-122"/>
                <a:cs typeface="Montserrat Light" pitchFamily="34" charset="-120"/>
              </a:rPr>
              <a:t> 02-design-spec.md</a:t>
            </a:r>
            <a:endParaRPr lang="en-US" sz="800" dirty="0"/>
          </a:p>
        </p:txBody>
      </p:sp>
      <p:sp>
        <p:nvSpPr>
          <p:cNvPr id="12" name="Text 9"/>
          <p:cNvSpPr/>
          <p:nvPr/>
        </p:nvSpPr>
        <p:spPr>
          <a:xfrm>
            <a:off x="4429125" y="3319583"/>
            <a:ext cx="1993106" cy="189309"/>
          </a:xfrm>
          <a:prstGeom prst="rect">
            <a:avLst/>
          </a:prstGeom>
          <a:noFill/>
          <a:ln/>
        </p:spPr>
        <p:txBody>
          <a:bodyPr wrap="square" lIns="127508" tIns="42545" rIns="127508" bIns="0" rtlCol="0" anchor="t">
            <a:spAutoFit/>
          </a:bodyPr>
          <a:lstStyle/>
          <a:p>
            <a:pPr marL="0" indent="0" algn="l">
              <a:buNone/>
            </a:pPr>
            <a:r>
              <a:rPr lang="en-US" sz="800" b="1" dirty="0">
                <a:solidFill>
                  <a:srgbClr val="D4AF37"/>
                </a:solidFill>
                <a:latin typeface="Montserrat Bold" pitchFamily="34" charset="0"/>
                <a:ea typeface="Montserrat Bold" pitchFamily="34" charset="-122"/>
                <a:cs typeface="Montserrat Bold" pitchFamily="34" charset="-120"/>
              </a:rPr>
              <a:t>Detailed Design Specification</a:t>
            </a:r>
            <a:endParaRPr lang="en-US" sz="800" dirty="0"/>
          </a:p>
        </p:txBody>
      </p:sp>
      <p:sp>
        <p:nvSpPr>
          <p:cNvPr id="13" name="Text 10"/>
          <p:cNvSpPr/>
          <p:nvPr/>
        </p:nvSpPr>
        <p:spPr>
          <a:xfrm>
            <a:off x="4429125" y="3616049"/>
            <a:ext cx="3929063" cy="230832"/>
          </a:xfrm>
          <a:prstGeom prst="rect">
            <a:avLst/>
          </a:prstGeom>
          <a:noFill/>
          <a:ln/>
        </p:spPr>
        <p:txBody>
          <a:bodyPr wrap="square" lIns="0" tIns="0" rIns="0" bIns="0" rtlCol="0" anchor="t">
            <a:spAutoFit/>
          </a:bodyPr>
          <a:lstStyle/>
          <a:p>
            <a:pPr marL="0" indent="0" algn="l">
              <a:buNone/>
            </a:pPr>
            <a:r>
              <a:rPr lang="en-US" sz="750" dirty="0">
                <a:solidFill>
                  <a:srgbClr val="EAEAEA"/>
                </a:solidFill>
                <a:latin typeface="Montserrat Light" pitchFamily="34" charset="0"/>
                <a:ea typeface="Montserrat Light" pitchFamily="34" charset="-122"/>
                <a:cs typeface="Montserrat Light" pitchFamily="34" charset="-120"/>
              </a:rPr>
              <a:t>Includes flyer archetypes (Nuala, Marcus, Theo, Rashida), intervention journeys and wireframes for the CSM dashboard and flyer-facing UI.</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572500" cy="377026"/>
          </a:xfrm>
          <a:prstGeom prst="rect">
            <a:avLst/>
          </a:prstGeom>
          <a:noFill/>
          <a:ln/>
        </p:spPr>
        <p:txBody>
          <a:bodyPr wrap="square" lIns="0" tIns="0" rIns="0" bIns="0" rtlCol="0" anchor="t">
            <a:spAutoFit/>
          </a:bodyPr>
          <a:lstStyle/>
          <a:p>
            <a:r>
              <a:rPr lang="en-US" sz="2450" b="1" dirty="0">
                <a:solidFill>
                  <a:srgbClr val="D4AF37"/>
                </a:solidFill>
                <a:latin typeface="Playfair Display ExtraBold" pitchFamily="34" charset="0"/>
                <a:ea typeface="Playfair Display ExtraBold" pitchFamily="34" charset="-122"/>
                <a:cs typeface="Playfair Display ExtraBold" pitchFamily="34" charset="-120"/>
              </a:rPr>
              <a:t>Agent 3 &amp; Agent 4: The Implementation Team</a:t>
            </a:r>
            <a:endParaRPr lang="en-US" sz="2450" dirty="0"/>
          </a:p>
        </p:txBody>
      </p:sp>
      <p:sp>
        <p:nvSpPr>
          <p:cNvPr id="4" name="Text 1"/>
          <p:cNvSpPr/>
          <p:nvPr/>
        </p:nvSpPr>
        <p:spPr>
          <a:xfrm>
            <a:off x="571500" y="1328738"/>
            <a:ext cx="3714750" cy="303609"/>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Playfair Display ExtraBold" pitchFamily="34" charset="0"/>
                <a:ea typeface="Playfair Display ExtraBold" pitchFamily="34" charset="-122"/>
                <a:cs typeface="Playfair Display ExtraBold" pitchFamily="34" charset="-120"/>
              </a:rPr>
              <a:t>Priya Shah</a:t>
            </a:r>
            <a:endParaRPr lang="en-US" sz="1600" dirty="0"/>
          </a:p>
        </p:txBody>
      </p:sp>
      <p:sp>
        <p:nvSpPr>
          <p:cNvPr id="5" name="Text 2"/>
          <p:cNvSpPr/>
          <p:nvPr/>
        </p:nvSpPr>
        <p:spPr>
          <a:xfrm>
            <a:off x="571500" y="1703784"/>
            <a:ext cx="3714750" cy="157163"/>
          </a:xfrm>
          <a:prstGeom prst="rect">
            <a:avLst/>
          </a:prstGeom>
          <a:noFill/>
          <a:ln/>
        </p:spPr>
        <p:txBody>
          <a:bodyPr wrap="square" lIns="0" tIns="0" rIns="0" bIns="0" rtlCol="0" anchor="t">
            <a:spAutoFit/>
          </a:bodyPr>
          <a:lstStyle/>
          <a:p>
            <a:pPr marL="0" indent="0" algn="l">
              <a:buNone/>
            </a:pPr>
            <a:r>
              <a:rPr lang="en-US" sz="950" kern="0" spc="1" dirty="0">
                <a:solidFill>
                  <a:srgbClr val="D4AF37"/>
                </a:solidFill>
                <a:latin typeface="Montserrat Light" pitchFamily="34" charset="0"/>
                <a:ea typeface="Montserrat Light" pitchFamily="34" charset="-122"/>
                <a:cs typeface="Montserrat Light" pitchFamily="34" charset="-120"/>
              </a:rPr>
              <a:t>THE MAKER | STAFF ENGINEER</a:t>
            </a:r>
            <a:endParaRPr lang="en-US" sz="950" dirty="0"/>
          </a:p>
        </p:txBody>
      </p:sp>
      <p:sp>
        <p:nvSpPr>
          <p:cNvPr id="6" name="Text 3"/>
          <p:cNvSpPr/>
          <p:nvPr/>
        </p:nvSpPr>
        <p:spPr>
          <a:xfrm>
            <a:off x="571500" y="2003822"/>
            <a:ext cx="3714750" cy="964406"/>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EAEAEA"/>
                </a:solidFill>
                <a:latin typeface="Montserrat Light" pitchFamily="34" charset="0"/>
                <a:ea typeface="Montserrat Light" pitchFamily="34" charset="-122"/>
                <a:cs typeface="Montserrat Light" pitchFamily="34" charset="-120"/>
              </a:rPr>
              <a:t>A technical craftswoman specializing in front-end engineering and rapid prototyping. Priya translates design specs into functional, accessible web interfaces. Her temperament is pragmatic and detail-oriented, valuing robust implementation over flashy features.</a:t>
            </a:r>
            <a:endParaRPr lang="en-US" sz="950" dirty="0"/>
          </a:p>
        </p:txBody>
      </p:sp>
      <p:sp>
        <p:nvSpPr>
          <p:cNvPr id="7" name="Text 4"/>
          <p:cNvSpPr/>
          <p:nvPr/>
        </p:nvSpPr>
        <p:spPr>
          <a:xfrm>
            <a:off x="571500" y="3296841"/>
            <a:ext cx="3714750" cy="139303"/>
          </a:xfrm>
          <a:prstGeom prst="rect">
            <a:avLst/>
          </a:prstGeom>
          <a:noFill/>
          <a:ln/>
        </p:spPr>
        <p:txBody>
          <a:bodyPr wrap="square" lIns="0" tIns="0" rIns="0" bIns="0" rtlCol="0" anchor="t">
            <a:spAutoFit/>
          </a:bodyPr>
          <a:lstStyle/>
          <a:p>
            <a:pPr marL="0" indent="0" algn="l">
              <a:buNone/>
            </a:pPr>
            <a:r>
              <a:rPr lang="en-US" sz="800" b="1" dirty="0">
                <a:solidFill>
                  <a:srgbClr val="D4AF37"/>
                </a:solidFill>
                <a:latin typeface="Montserrat Light" pitchFamily="34" charset="0"/>
                <a:ea typeface="Montserrat Light" pitchFamily="34" charset="-122"/>
                <a:cs typeface="Montserrat Light" pitchFamily="34" charset="-120"/>
              </a:rPr>
              <a:t>PRIMARY OUTPUT</a:t>
            </a:r>
            <a:endParaRPr lang="en-US" sz="800" dirty="0"/>
          </a:p>
        </p:txBody>
      </p:sp>
      <p:sp>
        <p:nvSpPr>
          <p:cNvPr id="8" name="Text 5"/>
          <p:cNvSpPr/>
          <p:nvPr/>
        </p:nvSpPr>
        <p:spPr>
          <a:xfrm>
            <a:off x="571500" y="3507581"/>
            <a:ext cx="3714750" cy="278606"/>
          </a:xfrm>
          <a:prstGeom prst="rect">
            <a:avLst/>
          </a:prstGeom>
          <a:noFill/>
          <a:ln/>
        </p:spPr>
        <p:txBody>
          <a:bodyPr wrap="square" lIns="0" tIns="0" rIns="0" bIns="0" rtlCol="0" anchor="t">
            <a:spAutoFit/>
          </a:bodyPr>
          <a:lstStyle/>
          <a:p>
            <a:pPr marL="0" indent="0" algn="l">
              <a:buNone/>
            </a:pPr>
            <a:r>
              <a:rPr lang="en-US" sz="850" i="1" dirty="0">
                <a:solidFill>
                  <a:srgbClr val="EAEAEA"/>
                </a:solidFill>
                <a:latin typeface="Montserrat" pitchFamily="34" charset="0"/>
                <a:ea typeface="Montserrat" pitchFamily="34" charset="-122"/>
                <a:cs typeface="Montserrat" pitchFamily="34" charset="-120"/>
              </a:rPr>
              <a:t>docs/ Prototype Site: A live, interactive environment featuring the CSM dashboard and gamified flyer-facing UI.</a:t>
            </a:r>
            <a:endParaRPr lang="en-US" sz="850" dirty="0"/>
          </a:p>
        </p:txBody>
      </p:sp>
      <p:sp>
        <p:nvSpPr>
          <p:cNvPr id="9" name="Text 6"/>
          <p:cNvSpPr/>
          <p:nvPr/>
        </p:nvSpPr>
        <p:spPr>
          <a:xfrm>
            <a:off x="4857750" y="1328738"/>
            <a:ext cx="3714750" cy="303609"/>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Playfair Display ExtraBold" pitchFamily="34" charset="0"/>
                <a:ea typeface="Playfair Display ExtraBold" pitchFamily="34" charset="-122"/>
                <a:cs typeface="Playfair Display ExtraBold" pitchFamily="34" charset="-120"/>
              </a:rPr>
              <a:t>Dara Okafor</a:t>
            </a:r>
            <a:endParaRPr lang="en-US" sz="1600" dirty="0"/>
          </a:p>
        </p:txBody>
      </p:sp>
      <p:sp>
        <p:nvSpPr>
          <p:cNvPr id="10" name="Text 7"/>
          <p:cNvSpPr/>
          <p:nvPr/>
        </p:nvSpPr>
        <p:spPr>
          <a:xfrm>
            <a:off x="4857750" y="1703784"/>
            <a:ext cx="3714750" cy="157163"/>
          </a:xfrm>
          <a:prstGeom prst="rect">
            <a:avLst/>
          </a:prstGeom>
          <a:noFill/>
          <a:ln/>
        </p:spPr>
        <p:txBody>
          <a:bodyPr wrap="square" lIns="0" tIns="0" rIns="0" bIns="0" rtlCol="0" anchor="t">
            <a:spAutoFit/>
          </a:bodyPr>
          <a:lstStyle/>
          <a:p>
            <a:pPr marL="0" indent="0" algn="l">
              <a:buNone/>
            </a:pPr>
            <a:r>
              <a:rPr lang="en-US" sz="950" kern="0" spc="1" dirty="0">
                <a:solidFill>
                  <a:srgbClr val="D4AF37"/>
                </a:solidFill>
                <a:latin typeface="Montserrat Light" pitchFamily="34" charset="0"/>
                <a:ea typeface="Montserrat Light" pitchFamily="34" charset="-122"/>
                <a:cs typeface="Montserrat Light" pitchFamily="34" charset="-120"/>
              </a:rPr>
              <a:t>THE COMMUNICATOR | VP BRAND</a:t>
            </a:r>
            <a:endParaRPr lang="en-US" sz="950" dirty="0"/>
          </a:p>
        </p:txBody>
      </p:sp>
      <p:sp>
        <p:nvSpPr>
          <p:cNvPr id="11" name="Text 8"/>
          <p:cNvSpPr/>
          <p:nvPr/>
        </p:nvSpPr>
        <p:spPr>
          <a:xfrm>
            <a:off x="4857750" y="2003822"/>
            <a:ext cx="3714750" cy="964406"/>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EAEAEA"/>
                </a:solidFill>
                <a:latin typeface="Montserrat Light" pitchFamily="34" charset="0"/>
                <a:ea typeface="Montserrat Light" pitchFamily="34" charset="-122"/>
                <a:cs typeface="Montserrat Light" pitchFamily="34" charset="-120"/>
              </a:rPr>
              <a:t>A master of loyalty marketing and storytelling. Dara crafts trust-first copy that resonates with flyers while ensuring brand alignment. She believes every message is an opportunity to deepen the relationship through transparency and empathy.</a:t>
            </a:r>
            <a:endParaRPr lang="en-US" sz="950" dirty="0"/>
          </a:p>
        </p:txBody>
      </p:sp>
      <p:sp>
        <p:nvSpPr>
          <p:cNvPr id="12" name="Text 9"/>
          <p:cNvSpPr/>
          <p:nvPr/>
        </p:nvSpPr>
        <p:spPr>
          <a:xfrm>
            <a:off x="4857750" y="3296841"/>
            <a:ext cx="3714750" cy="139303"/>
          </a:xfrm>
          <a:prstGeom prst="rect">
            <a:avLst/>
          </a:prstGeom>
          <a:noFill/>
          <a:ln/>
        </p:spPr>
        <p:txBody>
          <a:bodyPr wrap="square" lIns="0" tIns="0" rIns="0" bIns="0" rtlCol="0" anchor="t">
            <a:spAutoFit/>
          </a:bodyPr>
          <a:lstStyle/>
          <a:p>
            <a:pPr marL="0" indent="0" algn="l">
              <a:buNone/>
            </a:pPr>
            <a:r>
              <a:rPr lang="en-US" sz="800" b="1" dirty="0">
                <a:solidFill>
                  <a:srgbClr val="D4AF37"/>
                </a:solidFill>
                <a:latin typeface="Montserrat Light" pitchFamily="34" charset="0"/>
                <a:ea typeface="Montserrat Light" pitchFamily="34" charset="-122"/>
                <a:cs typeface="Montserrat Light" pitchFamily="34" charset="-120"/>
              </a:rPr>
              <a:t>PRIMARY OUTPUT</a:t>
            </a:r>
            <a:endParaRPr lang="en-US" sz="800" dirty="0"/>
          </a:p>
        </p:txBody>
      </p:sp>
      <p:sp>
        <p:nvSpPr>
          <p:cNvPr id="13" name="Text 10"/>
          <p:cNvSpPr/>
          <p:nvPr/>
        </p:nvSpPr>
        <p:spPr>
          <a:xfrm>
            <a:off x="4857750" y="3507581"/>
            <a:ext cx="3714750" cy="261610"/>
          </a:xfrm>
          <a:prstGeom prst="rect">
            <a:avLst/>
          </a:prstGeom>
          <a:noFill/>
          <a:ln/>
        </p:spPr>
        <p:txBody>
          <a:bodyPr wrap="square" lIns="0" tIns="0" rIns="0" bIns="0" rtlCol="0" anchor="t">
            <a:spAutoFit/>
          </a:bodyPr>
          <a:lstStyle/>
          <a:p>
            <a:pPr marL="0" indent="0" algn="l">
              <a:buNone/>
            </a:pPr>
            <a:r>
              <a:rPr lang="en-US" sz="850" i="1" dirty="0">
                <a:solidFill>
                  <a:srgbClr val="EAEAEA"/>
                </a:solidFill>
                <a:latin typeface="Montserrat" pitchFamily="34" charset="0"/>
                <a:ea typeface="Montserrat" pitchFamily="34" charset="-122"/>
                <a:cs typeface="Montserrat" pitchFamily="34" charset="-120"/>
              </a:rPr>
              <a:t>04-gtm-pack.md: A comprehensive suite of internal memos, email sequences, social copy and press releases.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572500" cy="457200"/>
          </a:xfrm>
          <a:prstGeom prst="rect">
            <a:avLst/>
          </a:prstGeom>
          <a:noFill/>
          <a:ln/>
        </p:spPr>
        <p:txBody>
          <a:bodyPr wrap="square" lIns="0" tIns="0" rIns="0" bIns="0" rtlCol="0" anchor="t">
            <a:spAutoFit/>
          </a:bodyPr>
          <a:lstStyle/>
          <a:p>
            <a:pPr marL="0" indent="0" algn="l">
              <a:buNone/>
            </a:pPr>
            <a:r>
              <a:rPr lang="en-US" sz="2450" b="1" dirty="0">
                <a:solidFill>
                  <a:srgbClr val="D4AF37"/>
                </a:solidFill>
                <a:latin typeface="Playfair Display ExtraBold" pitchFamily="34" charset="0"/>
                <a:ea typeface="Playfair Display ExtraBold" pitchFamily="34" charset="-122"/>
                <a:cs typeface="Playfair Display ExtraBold" pitchFamily="34" charset="-120"/>
              </a:rPr>
              <a:t>Agent 5: Claire Dubois (Manager)</a:t>
            </a:r>
            <a:endParaRPr lang="en-US" sz="2450" dirty="0"/>
          </a:p>
        </p:txBody>
      </p:sp>
      <p:sp>
        <p:nvSpPr>
          <p:cNvPr id="4" name="Text 1"/>
          <p:cNvSpPr/>
          <p:nvPr/>
        </p:nvSpPr>
        <p:spPr>
          <a:xfrm>
            <a:off x="571500" y="1400175"/>
            <a:ext cx="3786188" cy="303609"/>
          </a:xfrm>
          <a:prstGeom prst="rect">
            <a:avLst/>
          </a:prstGeom>
          <a:noFill/>
          <a:ln/>
        </p:spPr>
        <p:txBody>
          <a:bodyPr wrap="square" lIns="0" tIns="0" rIns="0" bIns="0" rtlCol="0" anchor="t">
            <a:spAutoFit/>
          </a:bodyPr>
          <a:lstStyle/>
          <a:p>
            <a:pPr marL="0" indent="0" algn="l">
              <a:buNone/>
            </a:pPr>
            <a:r>
              <a:rPr lang="en-US" sz="1600" b="1" dirty="0">
                <a:solidFill>
                  <a:srgbClr val="FFFFFF"/>
                </a:solidFill>
                <a:latin typeface="Playfair Display ExtraBold" pitchFamily="34" charset="0"/>
                <a:ea typeface="Playfair Display ExtraBold" pitchFamily="34" charset="-122"/>
                <a:cs typeface="Playfair Display ExtraBold" pitchFamily="34" charset="-120"/>
              </a:rPr>
              <a:t>The Orchestrator</a:t>
            </a:r>
            <a:endParaRPr lang="en-US" sz="1600" dirty="0"/>
          </a:p>
        </p:txBody>
      </p:sp>
      <p:sp>
        <p:nvSpPr>
          <p:cNvPr id="5" name="Text 2"/>
          <p:cNvSpPr/>
          <p:nvPr/>
        </p:nvSpPr>
        <p:spPr>
          <a:xfrm>
            <a:off x="571500" y="1846659"/>
            <a:ext cx="3786188" cy="205718"/>
          </a:xfrm>
          <a:prstGeom prst="rect">
            <a:avLst/>
          </a:prstGeom>
          <a:noFill/>
          <a:ln/>
        </p:spPr>
        <p:txBody>
          <a:bodyPr wrap="none" lIns="0" tIns="0" rIns="0" bIns="0" rtlCol="0" anchor="t">
            <a:spAutoFit/>
          </a:bodyPr>
          <a:lstStyle/>
          <a:p>
            <a:pPr marL="0" indent="0" algn="l">
              <a:lnSpc>
                <a:spcPct val="128000"/>
              </a:lnSpc>
              <a:buNone/>
            </a:pPr>
            <a:r>
              <a:rPr lang="en-US" sz="900" b="1" dirty="0">
                <a:solidFill>
                  <a:srgbClr val="EAEAEA"/>
                </a:solidFill>
                <a:latin typeface="Montserrat Light" pitchFamily="34" charset="0"/>
                <a:ea typeface="Montserrat Light" pitchFamily="34" charset="-122"/>
                <a:cs typeface="Montserrat Light" pitchFamily="34" charset="-120"/>
              </a:rPr>
              <a:t>Role:</a:t>
            </a:r>
            <a:r>
              <a:rPr lang="en-US" sz="950" dirty="0">
                <a:solidFill>
                  <a:srgbClr val="EAEAEA"/>
                </a:solidFill>
                <a:latin typeface="Montserrat Light" pitchFamily="34" charset="0"/>
                <a:ea typeface="Montserrat Light" pitchFamily="34" charset="-122"/>
                <a:cs typeface="Montserrat Light" pitchFamily="34" charset="-120"/>
              </a:rPr>
              <a:t> Chief Customer Officer (CCO)</a:t>
            </a:r>
            <a:endParaRPr lang="en-US" sz="900" dirty="0"/>
          </a:p>
        </p:txBody>
      </p:sp>
      <p:sp>
        <p:nvSpPr>
          <p:cNvPr id="6" name="Text 3"/>
          <p:cNvSpPr/>
          <p:nvPr/>
        </p:nvSpPr>
        <p:spPr>
          <a:xfrm>
            <a:off x="571500" y="2195252"/>
            <a:ext cx="3786188" cy="546240"/>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EAEAEA"/>
                </a:solidFill>
                <a:latin typeface="Montserrat Light" pitchFamily="34" charset="0"/>
                <a:ea typeface="Montserrat Light" pitchFamily="34" charset="-122"/>
                <a:cs typeface="Montserrat Light" pitchFamily="34" charset="-120"/>
              </a:rPr>
              <a:t>Expertise:</a:t>
            </a:r>
            <a:r>
              <a:rPr lang="en-US" sz="950" dirty="0">
                <a:solidFill>
                  <a:srgbClr val="EAEAEA"/>
                </a:solidFill>
                <a:latin typeface="Montserrat Light" pitchFamily="34" charset="0"/>
                <a:ea typeface="Montserrat Light" pitchFamily="34" charset="-122"/>
                <a:cs typeface="Montserrat Light" pitchFamily="34" charset="-120"/>
              </a:rPr>
              <a:t> P&amp;L leadership, regulatory governance and executive narrative. Claire owns the strategic direction and ensures every output meets high-level commercial standards.</a:t>
            </a:r>
            <a:endParaRPr lang="en-US" sz="900" dirty="0"/>
          </a:p>
        </p:txBody>
      </p:sp>
      <p:sp>
        <p:nvSpPr>
          <p:cNvPr id="7" name="Text 4"/>
          <p:cNvSpPr/>
          <p:nvPr/>
        </p:nvSpPr>
        <p:spPr>
          <a:xfrm>
            <a:off x="571500" y="3160998"/>
            <a:ext cx="3786188" cy="359137"/>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EAEAEA"/>
                </a:solidFill>
                <a:latin typeface="Montserrat Light" pitchFamily="34" charset="0"/>
                <a:ea typeface="Montserrat Light" pitchFamily="34" charset="-122"/>
                <a:cs typeface="Montserrat Light" pitchFamily="34" charset="-120"/>
              </a:rPr>
              <a:t>Temperament:</a:t>
            </a:r>
            <a:r>
              <a:rPr lang="en-US" sz="950" dirty="0">
                <a:solidFill>
                  <a:srgbClr val="EAEAEA"/>
                </a:solidFill>
                <a:latin typeface="Montserrat Light" pitchFamily="34" charset="0"/>
                <a:ea typeface="Montserrat Light" pitchFamily="34" charset="-122"/>
                <a:cs typeface="Montserrat Light" pitchFamily="34" charset="-120"/>
              </a:rPr>
              <a:t> Decisive, strategic and results-oriented. She holds the team accountable through strict quality gates.</a:t>
            </a:r>
            <a:endParaRPr lang="en-US" sz="900" dirty="0"/>
          </a:p>
        </p:txBody>
      </p:sp>
      <p:sp>
        <p:nvSpPr>
          <p:cNvPr id="8" name="Text 5"/>
          <p:cNvSpPr/>
          <p:nvPr/>
        </p:nvSpPr>
        <p:spPr>
          <a:xfrm>
            <a:off x="571500" y="3715308"/>
            <a:ext cx="3786188" cy="359137"/>
          </a:xfrm>
          <a:prstGeom prst="rect">
            <a:avLst/>
          </a:prstGeom>
          <a:noFill/>
          <a:ln/>
        </p:spPr>
        <p:txBody>
          <a:bodyPr wrap="square" lIns="0" tIns="0" rIns="0" bIns="0" rtlCol="0" anchor="t">
            <a:spAutoFit/>
          </a:bodyPr>
          <a:lstStyle/>
          <a:p>
            <a:pPr marL="0" indent="0" algn="l">
              <a:lnSpc>
                <a:spcPct val="128000"/>
              </a:lnSpc>
              <a:buNone/>
            </a:pPr>
            <a:r>
              <a:rPr lang="en-US" sz="900" b="1" dirty="0">
                <a:solidFill>
                  <a:srgbClr val="EAEAEA"/>
                </a:solidFill>
                <a:latin typeface="Montserrat Light" pitchFamily="34" charset="0"/>
                <a:ea typeface="Montserrat Light" pitchFamily="34" charset="-122"/>
                <a:cs typeface="Montserrat Light" pitchFamily="34" charset="-120"/>
              </a:rPr>
              <a:t>Voice:</a:t>
            </a:r>
            <a:r>
              <a:rPr lang="en-US" sz="950" dirty="0">
                <a:solidFill>
                  <a:srgbClr val="EAEAEA"/>
                </a:solidFill>
                <a:latin typeface="Montserrat Light" pitchFamily="34" charset="0"/>
                <a:ea typeface="Montserrat Light" pitchFamily="34" charset="-122"/>
                <a:cs typeface="Montserrat Light" pitchFamily="34" charset="-120"/>
              </a:rPr>
              <a:t> Authoritative, concise and executive-level. She speaks in terms of KPIs, ROI and strategic imperatives.</a:t>
            </a:r>
            <a:endParaRPr lang="en-US" sz="900" dirty="0"/>
          </a:p>
        </p:txBody>
      </p:sp>
      <p:sp>
        <p:nvSpPr>
          <p:cNvPr id="9" name="Text 6"/>
          <p:cNvSpPr/>
          <p:nvPr/>
        </p:nvSpPr>
        <p:spPr>
          <a:xfrm>
            <a:off x="571500" y="4341056"/>
            <a:ext cx="3786188" cy="157163"/>
          </a:xfrm>
          <a:prstGeom prst="rect">
            <a:avLst/>
          </a:prstGeom>
          <a:noFill/>
          <a:ln/>
        </p:spPr>
        <p:txBody>
          <a:bodyPr wrap="square" lIns="0" tIns="0" rIns="0" bIns="0" rtlCol="0" anchor="t">
            <a:spAutoFit/>
          </a:bodyPr>
          <a:lstStyle/>
          <a:p>
            <a:pPr marL="0" indent="0" algn="l">
              <a:buNone/>
            </a:pPr>
            <a:r>
              <a:rPr lang="en-US" sz="900" b="1" dirty="0">
                <a:solidFill>
                  <a:srgbClr val="D4AF37"/>
                </a:solidFill>
                <a:latin typeface="Montserrat Light" pitchFamily="34" charset="0"/>
                <a:ea typeface="Montserrat Light" pitchFamily="34" charset="-122"/>
                <a:cs typeface="Montserrat Light" pitchFamily="34" charset="-120"/>
              </a:rPr>
              <a:t>Produces: 05-executive-summary.md &amp; manager-log.md</a:t>
            </a:r>
            <a:endParaRPr lang="en-US" sz="900" dirty="0"/>
          </a:p>
        </p:txBody>
      </p:sp>
      <p:sp>
        <p:nvSpPr>
          <p:cNvPr id="10" name="Shape 7"/>
          <p:cNvSpPr/>
          <p:nvPr/>
        </p:nvSpPr>
        <p:spPr>
          <a:xfrm>
            <a:off x="4786313" y="1400175"/>
            <a:ext cx="3786188" cy="3098043"/>
          </a:xfrm>
          <a:prstGeom prst="rect">
            <a:avLst/>
          </a:prstGeom>
          <a:solidFill>
            <a:srgbClr val="FFFFFF">
              <a:alpha val="5000"/>
            </a:srgbClr>
          </a:solidFill>
          <a:ln/>
        </p:spPr>
        <p:txBody>
          <a:bodyPr/>
          <a:lstStyle/>
          <a:p>
            <a:endParaRPr lang="en-US"/>
          </a:p>
        </p:txBody>
      </p:sp>
      <p:sp>
        <p:nvSpPr>
          <p:cNvPr id="11" name="Shape 8"/>
          <p:cNvSpPr/>
          <p:nvPr/>
        </p:nvSpPr>
        <p:spPr>
          <a:xfrm>
            <a:off x="4786313" y="1400175"/>
            <a:ext cx="3786188" cy="14288"/>
          </a:xfrm>
          <a:prstGeom prst="rect">
            <a:avLst/>
          </a:prstGeom>
          <a:solidFill>
            <a:srgbClr val="D4AF37"/>
          </a:solidFill>
          <a:ln/>
        </p:spPr>
        <p:txBody>
          <a:bodyPr/>
          <a:lstStyle/>
          <a:p>
            <a:endParaRPr lang="en-US"/>
          </a:p>
        </p:txBody>
      </p:sp>
      <p:sp>
        <p:nvSpPr>
          <p:cNvPr id="12" name="Text 9"/>
          <p:cNvSpPr/>
          <p:nvPr/>
        </p:nvSpPr>
        <p:spPr>
          <a:xfrm>
            <a:off x="5000625" y="1614488"/>
            <a:ext cx="3357563" cy="228600"/>
          </a:xfrm>
          <a:prstGeom prst="rect">
            <a:avLst/>
          </a:prstGeom>
          <a:noFill/>
          <a:ln/>
        </p:spPr>
        <p:txBody>
          <a:bodyPr wrap="square" lIns="0" tIns="0" rIns="0" bIns="0" rtlCol="0" anchor="t">
            <a:spAutoFit/>
          </a:bodyPr>
          <a:lstStyle/>
          <a:p>
            <a:pPr marL="0" indent="0" algn="l">
              <a:buNone/>
            </a:pPr>
            <a:r>
              <a:rPr lang="en-US" sz="1200" b="1" dirty="0">
                <a:solidFill>
                  <a:srgbClr val="D4AF37"/>
                </a:solidFill>
                <a:latin typeface="Playfair Display ExtraBold" pitchFamily="34" charset="0"/>
                <a:ea typeface="Playfair Display ExtraBold" pitchFamily="34" charset="-122"/>
                <a:cs typeface="Playfair Display ExtraBold" pitchFamily="34" charset="-120"/>
              </a:rPr>
              <a:t>System Prompt Excerpt</a:t>
            </a:r>
            <a:endParaRPr lang="en-US" sz="1200" dirty="0"/>
          </a:p>
        </p:txBody>
      </p:sp>
      <p:sp>
        <p:nvSpPr>
          <p:cNvPr id="13" name="Text 10"/>
          <p:cNvSpPr/>
          <p:nvPr/>
        </p:nvSpPr>
        <p:spPr>
          <a:xfrm>
            <a:off x="5000625" y="1950244"/>
            <a:ext cx="3357563" cy="1257300"/>
          </a:xfrm>
          <a:prstGeom prst="rect">
            <a:avLst/>
          </a:prstGeom>
          <a:noFill/>
          <a:ln/>
        </p:spPr>
        <p:txBody>
          <a:bodyPr wrap="square" lIns="0" tIns="0" rIns="0" bIns="0" rtlCol="0" anchor="t">
            <a:spAutoFit/>
          </a:bodyPr>
          <a:lstStyle/>
          <a:p>
            <a:pPr marL="0" indent="0" algn="l">
              <a:buNone/>
            </a:pPr>
            <a:r>
              <a:rPr lang="en-US" sz="750" dirty="0">
                <a:solidFill>
                  <a:srgbClr val="CCCCCC"/>
                </a:solidFill>
                <a:latin typeface="Courier New" pitchFamily="34" charset="0"/>
                <a:ea typeface="Courier New" pitchFamily="34" charset="-122"/>
                <a:cs typeface="Courier New" pitchFamily="34" charset="-120"/>
              </a:rPr>
              <a:t># Manager: "Claire Dubois"</a:t>
            </a:r>
            <a:endParaRPr lang="en-US" sz="750" dirty="0"/>
          </a:p>
          <a:p>
            <a:pPr marL="0" indent="0" algn="l">
              <a:buNone/>
            </a:pPr>
            <a:r>
              <a:rPr lang="en-US" sz="750" dirty="0">
                <a:solidFill>
                  <a:srgbClr val="CCCCCC"/>
                </a:solidFill>
                <a:latin typeface="Courier New" pitchFamily="34" charset="0"/>
                <a:ea typeface="Courier New" pitchFamily="34" charset="-122"/>
                <a:cs typeface="Courier New" pitchFamily="34" charset="-120"/>
              </a:rPr>
              <a:t>## Who you are</a:t>
            </a:r>
            <a:endParaRPr lang="en-US" sz="750" dirty="0"/>
          </a:p>
          <a:p>
            <a:pPr marL="0" indent="0" algn="l">
              <a:buNone/>
            </a:pPr>
            <a:r>
              <a:rPr lang="en-US" sz="750" dirty="0">
                <a:solidFill>
                  <a:srgbClr val="CCCCCC"/>
                </a:solidFill>
                <a:latin typeface="Courier New" pitchFamily="34" charset="0"/>
                <a:ea typeface="Courier New" pitchFamily="34" charset="-122"/>
                <a:cs typeface="Courier New" pitchFamily="34" charset="-120"/>
              </a:rPr>
              <a:t>You are Claire Dubois, Chief Customer Officer at SkyJet Airways. You own the P&amp;L, set the strategic direction, and ensure regulatory compliance. Your superpower is leadership and orchestration, guiding the team to deliver high-quality, commercially viable solutions.</a:t>
            </a:r>
            <a:endParaRPr lang="en-US" sz="750" dirty="0"/>
          </a:p>
          <a:p>
            <a:pPr marL="0" indent="0" algn="l">
              <a:buNone/>
            </a:pPr>
            <a:endParaRPr lang="en-US" sz="750" dirty="0"/>
          </a:p>
          <a:p>
            <a:pPr marL="0" indent="0" algn="l">
              <a:buNone/>
            </a:pPr>
            <a:r>
              <a:rPr lang="en-US" sz="750" dirty="0">
                <a:solidFill>
                  <a:srgbClr val="CCCCCC"/>
                </a:solidFill>
                <a:latin typeface="Courier New" pitchFamily="34" charset="0"/>
                <a:ea typeface="Courier New" pitchFamily="34" charset="-122"/>
                <a:cs typeface="Courier New" pitchFamily="34" charset="-120"/>
              </a:rPr>
              <a:t>**Temperament:** Decisive, strategic, results-oriented. You hold the team accountable and ensure every output meets executive standards.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285750"/>
            <a:ext cx="8572500" cy="400050"/>
          </a:xfrm>
          <a:prstGeom prst="rect">
            <a:avLst/>
          </a:prstGeom>
          <a:noFill/>
          <a:ln/>
        </p:spPr>
        <p:txBody>
          <a:bodyPr wrap="square" lIns="0" tIns="0" rIns="0" bIns="0" rtlCol="0" anchor="t">
            <a:spAutoFit/>
          </a:bodyPr>
          <a:lstStyle/>
          <a:p>
            <a:pPr marL="0" indent="0" algn="l">
              <a:buNone/>
            </a:pPr>
            <a:r>
              <a:rPr lang="en-US" sz="2100" b="1" dirty="0">
                <a:solidFill>
                  <a:srgbClr val="D4AF37"/>
                </a:solidFill>
                <a:latin typeface="Playfair Display ExtraBold" pitchFamily="34" charset="0"/>
                <a:ea typeface="Playfair Display ExtraBold" pitchFamily="34" charset="-122"/>
                <a:cs typeface="Playfair Display ExtraBold" pitchFamily="34" charset="-120"/>
              </a:rPr>
              <a:t>Manager Log: Pipeline Audit (Part 1)</a:t>
            </a:r>
            <a:endParaRPr lang="en-US" sz="2100" dirty="0"/>
          </a:p>
        </p:txBody>
      </p:sp>
      <p:sp>
        <p:nvSpPr>
          <p:cNvPr id="4" name="Shape 1"/>
          <p:cNvSpPr/>
          <p:nvPr/>
        </p:nvSpPr>
        <p:spPr>
          <a:xfrm>
            <a:off x="571500" y="1021556"/>
            <a:ext cx="8001000" cy="3571875"/>
          </a:xfrm>
          <a:prstGeom prst="rect">
            <a:avLst/>
          </a:prstGeom>
          <a:solidFill>
            <a:srgbClr val="050A18"/>
          </a:solidFill>
          <a:ln w="9144">
            <a:solidFill>
              <a:srgbClr val="D4AF37"/>
            </a:solidFill>
            <a:prstDash val="solid"/>
          </a:ln>
        </p:spPr>
        <p:txBody>
          <a:bodyPr/>
          <a:lstStyle/>
          <a:p>
            <a:endParaRPr lang="en-US"/>
          </a:p>
        </p:txBody>
      </p:sp>
      <p:sp>
        <p:nvSpPr>
          <p:cNvPr id="5" name="Text 2"/>
          <p:cNvSpPr/>
          <p:nvPr/>
        </p:nvSpPr>
        <p:spPr>
          <a:xfrm>
            <a:off x="1021556" y="1235869"/>
            <a:ext cx="7265194" cy="180017"/>
          </a:xfrm>
          <a:prstGeom prst="rect">
            <a:avLst/>
          </a:prstGeom>
          <a:noFill/>
          <a:ln/>
        </p:spPr>
        <p:txBody>
          <a:bodyPr wrap="none" lIns="0" tIns="0" rIns="0" bIns="0" rtlCol="0" anchor="t">
            <a:spAutoFit/>
          </a:bodyPr>
          <a:lstStyle/>
          <a:p>
            <a:pPr marL="0" indent="0" algn="l">
              <a:lnSpc>
                <a:spcPct val="112000"/>
              </a:lnSpc>
              <a:buNone/>
            </a:pPr>
            <a:r>
              <a:rPr lang="en-US" sz="900" b="1" dirty="0">
                <a:solidFill>
                  <a:srgbClr val="D4AF37"/>
                </a:solidFill>
                <a:latin typeface="Fira Code" pitchFamily="34" charset="0"/>
                <a:ea typeface="Fira Code" pitchFamily="34" charset="-122"/>
                <a:cs typeface="Fira Code" pitchFamily="34" charset="-120"/>
              </a:rPr>
              <a:t>## Cycle 1: Researcher: 2026-04-29 09:14</a:t>
            </a:r>
            <a:endParaRPr lang="en-US" sz="900" dirty="0"/>
          </a:p>
        </p:txBody>
      </p:sp>
      <p:sp>
        <p:nvSpPr>
          <p:cNvPr id="6" name="Text 3"/>
          <p:cNvSpPr/>
          <p:nvPr/>
        </p:nvSpPr>
        <p:spPr>
          <a:xfrm>
            <a:off x="1021556" y="1487323"/>
            <a:ext cx="7265194"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Artefact:</a:t>
            </a:r>
            <a:r>
              <a:rPr lang="en-US" sz="750" dirty="0">
                <a:solidFill>
                  <a:srgbClr val="EAEAEA"/>
                </a:solidFill>
                <a:latin typeface="Fira Code" pitchFamily="34" charset="0"/>
                <a:ea typeface="Fira Code" pitchFamily="34" charset="-122"/>
                <a:cs typeface="Fira Code" pitchFamily="34" charset="-120"/>
              </a:rPr>
              <a:t> outputs/01-research-brief.md</a:t>
            </a:r>
            <a:endParaRPr lang="en-US" sz="700" dirty="0"/>
          </a:p>
        </p:txBody>
      </p:sp>
      <p:sp>
        <p:nvSpPr>
          <p:cNvPr id="7" name="Text 4"/>
          <p:cNvSpPr/>
          <p:nvPr/>
        </p:nvSpPr>
        <p:spPr>
          <a:xfrm>
            <a:off x="1021556" y="1627324"/>
            <a:ext cx="7265194"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Verdict:</a:t>
            </a:r>
            <a:r>
              <a:rPr lang="en-US" sz="750" dirty="0">
                <a:solidFill>
                  <a:srgbClr val="EAEAEA"/>
                </a:solidFill>
                <a:latin typeface="Fira Code" pitchFamily="34" charset="0"/>
                <a:ea typeface="Fira Code" pitchFamily="34" charset="-122"/>
                <a:cs typeface="Fira Code" pitchFamily="34" charset="-120"/>
              </a:rPr>
              <a:t> </a:t>
            </a:r>
            <a:r>
              <a:rPr lang="en-US" sz="700" b="1" dirty="0">
                <a:solidFill>
                  <a:srgbClr val="4CAF50"/>
                </a:solidFill>
                <a:latin typeface="Fira Code" pitchFamily="34" charset="0"/>
                <a:ea typeface="Fira Code" pitchFamily="34" charset="-122"/>
                <a:cs typeface="Fira Code" pitchFamily="34" charset="-120"/>
              </a:rPr>
              <a:t>APPROVED</a:t>
            </a:r>
            <a:endParaRPr lang="en-US" sz="700" dirty="0"/>
          </a:p>
        </p:txBody>
      </p:sp>
      <p:sp>
        <p:nvSpPr>
          <p:cNvPr id="8" name="Text 5"/>
          <p:cNvSpPr/>
          <p:nvPr/>
        </p:nvSpPr>
        <p:spPr>
          <a:xfrm>
            <a:off x="1021556" y="1767325"/>
            <a:ext cx="7265194" cy="280002"/>
          </a:xfrm>
          <a:prstGeom prst="rect">
            <a:avLst/>
          </a:prstGeom>
          <a:noFill/>
          <a:ln/>
        </p:spPr>
        <p:txBody>
          <a:bodyPr wrap="squar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Notes:</a:t>
            </a:r>
            <a:r>
              <a:rPr lang="en-US" sz="750" dirty="0">
                <a:solidFill>
                  <a:srgbClr val="EAEAEA"/>
                </a:solidFill>
                <a:latin typeface="Fira Code" pitchFamily="34" charset="0"/>
                <a:ea typeface="Fira Code" pitchFamily="34" charset="-122"/>
                <a:cs typeface="Fira Code" pitchFamily="34" charset="-120"/>
              </a:rPr>
              <a:t> Strong: every claim is traceable to a dataset stat or a named external source (IATA 2024). The four-segment partitioning is operationally useful. §5 flags GDPR Art. 22 correctly.</a:t>
            </a:r>
            <a:endParaRPr lang="en-US" sz="700" dirty="0"/>
          </a:p>
        </p:txBody>
      </p:sp>
      <p:sp>
        <p:nvSpPr>
          <p:cNvPr id="9" name="Text 6"/>
          <p:cNvSpPr/>
          <p:nvPr/>
        </p:nvSpPr>
        <p:spPr>
          <a:xfrm>
            <a:off x="1021556" y="2261639"/>
            <a:ext cx="7265194" cy="180017"/>
          </a:xfrm>
          <a:prstGeom prst="rect">
            <a:avLst/>
          </a:prstGeom>
          <a:noFill/>
          <a:ln/>
        </p:spPr>
        <p:txBody>
          <a:bodyPr wrap="none" lIns="0" tIns="0" rIns="0" bIns="0" rtlCol="0" anchor="t">
            <a:spAutoFit/>
          </a:bodyPr>
          <a:lstStyle/>
          <a:p>
            <a:pPr marL="0" indent="0" algn="l">
              <a:lnSpc>
                <a:spcPct val="112000"/>
              </a:lnSpc>
              <a:buNone/>
            </a:pPr>
            <a:r>
              <a:rPr lang="en-US" sz="900" b="1" dirty="0">
                <a:solidFill>
                  <a:srgbClr val="D4AF37"/>
                </a:solidFill>
                <a:latin typeface="Fira Code" pitchFamily="34" charset="0"/>
                <a:ea typeface="Fira Code" pitchFamily="34" charset="-122"/>
                <a:cs typeface="Fira Code" pitchFamily="34" charset="-120"/>
              </a:rPr>
              <a:t>## Cycle 1: Designer: 2026-04-29 11:02</a:t>
            </a:r>
            <a:endParaRPr lang="en-US" sz="900" dirty="0"/>
          </a:p>
        </p:txBody>
      </p:sp>
      <p:sp>
        <p:nvSpPr>
          <p:cNvPr id="10" name="Text 7"/>
          <p:cNvSpPr/>
          <p:nvPr/>
        </p:nvSpPr>
        <p:spPr>
          <a:xfrm>
            <a:off x="1021556" y="2513093"/>
            <a:ext cx="7265194"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Artefact:</a:t>
            </a:r>
            <a:r>
              <a:rPr lang="en-US" sz="750" dirty="0">
                <a:solidFill>
                  <a:srgbClr val="EAEAEA"/>
                </a:solidFill>
                <a:latin typeface="Fira Code" pitchFamily="34" charset="0"/>
                <a:ea typeface="Fira Code" pitchFamily="34" charset="-122"/>
                <a:cs typeface="Fira Code" pitchFamily="34" charset="-120"/>
              </a:rPr>
              <a:t> outputs/02-design-spec.md</a:t>
            </a:r>
            <a:endParaRPr lang="en-US" sz="700" dirty="0"/>
          </a:p>
        </p:txBody>
      </p:sp>
      <p:sp>
        <p:nvSpPr>
          <p:cNvPr id="11" name="Text 8"/>
          <p:cNvSpPr/>
          <p:nvPr/>
        </p:nvSpPr>
        <p:spPr>
          <a:xfrm>
            <a:off x="1021556" y="2653094"/>
            <a:ext cx="7265194"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Verdict:</a:t>
            </a:r>
            <a:r>
              <a:rPr lang="en-US" sz="750" dirty="0">
                <a:solidFill>
                  <a:srgbClr val="EAEAEA"/>
                </a:solidFill>
                <a:latin typeface="Fira Code" pitchFamily="34" charset="0"/>
                <a:ea typeface="Fira Code" pitchFamily="34" charset="-122"/>
                <a:cs typeface="Fira Code" pitchFamily="34" charset="-120"/>
              </a:rPr>
              <a:t> </a:t>
            </a:r>
            <a:r>
              <a:rPr lang="en-US" sz="700" b="1" dirty="0">
                <a:solidFill>
                  <a:srgbClr val="F44336"/>
                </a:solidFill>
                <a:latin typeface="Fira Code" pitchFamily="34" charset="0"/>
                <a:ea typeface="Fira Code" pitchFamily="34" charset="-122"/>
                <a:cs typeface="Fira Code" pitchFamily="34" charset="-120"/>
              </a:rPr>
              <a:t>RETURNED</a:t>
            </a:r>
            <a:endParaRPr lang="en-US" sz="700" dirty="0"/>
          </a:p>
        </p:txBody>
      </p:sp>
      <p:sp>
        <p:nvSpPr>
          <p:cNvPr id="12" name="Text 9"/>
          <p:cNvSpPr/>
          <p:nvPr/>
        </p:nvSpPr>
        <p:spPr>
          <a:xfrm>
            <a:off x="1021556" y="2793095"/>
            <a:ext cx="7265194" cy="280002"/>
          </a:xfrm>
          <a:prstGeom prst="rect">
            <a:avLst/>
          </a:prstGeom>
          <a:noFill/>
          <a:ln/>
        </p:spPr>
        <p:txBody>
          <a:bodyPr wrap="squar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Notes:</a:t>
            </a:r>
            <a:r>
              <a:rPr lang="en-US" sz="750" dirty="0">
                <a:solidFill>
                  <a:srgbClr val="EAEAEA"/>
                </a:solidFill>
                <a:latin typeface="Fira Code" pitchFamily="34" charset="0"/>
                <a:ea typeface="Fira Code" pitchFamily="34" charset="-122"/>
                <a:cs typeface="Fira Code" pitchFamily="34" charset="-120"/>
              </a:rPr>
              <a:t> </a:t>
            </a:r>
            <a:r>
              <a:rPr lang="en-US" sz="700" b="1" dirty="0">
                <a:solidFill>
                  <a:srgbClr val="D4AF37"/>
                </a:solidFill>
                <a:latin typeface="Fira Code" pitchFamily="34" charset="0"/>
                <a:ea typeface="Fira Code" pitchFamily="34" charset="-122"/>
                <a:cs typeface="Fira Code" pitchFamily="34" charset="-120"/>
              </a:rPr>
              <a:t>Return reason 1:</a:t>
            </a:r>
            <a:r>
              <a:rPr lang="en-US" sz="750" dirty="0">
                <a:solidFill>
                  <a:srgbClr val="EAEAEA"/>
                </a:solidFill>
                <a:latin typeface="Fira Code" pitchFamily="34" charset="0"/>
                <a:ea typeface="Fira Code" pitchFamily="34" charset="-122"/>
                <a:cs typeface="Fira Code" pitchFamily="34" charset="-120"/>
              </a:rPr>
              <a:t> Segment merge is unjustified. </a:t>
            </a:r>
            <a:r>
              <a:rPr lang="en-US" sz="700" b="1" dirty="0">
                <a:solidFill>
                  <a:srgbClr val="D4AF37"/>
                </a:solidFill>
                <a:latin typeface="Fira Code" pitchFamily="34" charset="0"/>
                <a:ea typeface="Fira Code" pitchFamily="34" charset="-122"/>
                <a:cs typeface="Fira Code" pitchFamily="34" charset="-120"/>
              </a:rPr>
              <a:t>Return reason 2:</a:t>
            </a:r>
            <a:r>
              <a:rPr lang="en-US" sz="750" dirty="0">
                <a:solidFill>
                  <a:srgbClr val="EAEAEA"/>
                </a:solidFill>
                <a:latin typeface="Fira Code" pitchFamily="34" charset="0"/>
                <a:ea typeface="Fira Code" pitchFamily="34" charset="-122"/>
                <a:cs typeface="Fira Code" pitchFamily="34" charset="-120"/>
              </a:rPr>
              <a:t> CD8 representation is creative but ambiguous. </a:t>
            </a:r>
            <a:r>
              <a:rPr lang="en-US" sz="700" b="1" dirty="0">
                <a:solidFill>
                  <a:srgbClr val="D4AF37"/>
                </a:solidFill>
                <a:latin typeface="Fira Code" pitchFamily="34" charset="0"/>
                <a:ea typeface="Fira Code" pitchFamily="34" charset="-122"/>
                <a:cs typeface="Fira Code" pitchFamily="34" charset="-120"/>
              </a:rPr>
              <a:t>Return reason 3:</a:t>
            </a:r>
            <a:r>
              <a:rPr lang="en-US" sz="750" dirty="0">
                <a:solidFill>
                  <a:srgbClr val="EAEAEA"/>
                </a:solidFill>
                <a:latin typeface="Fira Code" pitchFamily="34" charset="0"/>
                <a:ea typeface="Fira Code" pitchFamily="34" charset="-122"/>
                <a:cs typeface="Fira Code" pitchFamily="34" charset="-120"/>
              </a:rPr>
              <a:t> No measurement framework. Designer to revise §2, §5, and add metrics.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285750"/>
            <a:ext cx="8572500" cy="400050"/>
          </a:xfrm>
          <a:prstGeom prst="rect">
            <a:avLst/>
          </a:prstGeom>
          <a:noFill/>
          <a:ln/>
        </p:spPr>
        <p:txBody>
          <a:bodyPr wrap="square" lIns="0" tIns="0" rIns="0" bIns="0" rtlCol="0" anchor="t">
            <a:spAutoFit/>
          </a:bodyPr>
          <a:lstStyle/>
          <a:p>
            <a:pPr marL="0" indent="0" algn="l">
              <a:buNone/>
            </a:pPr>
            <a:r>
              <a:rPr lang="en-US" sz="2100" b="1" dirty="0">
                <a:solidFill>
                  <a:srgbClr val="D4AF37"/>
                </a:solidFill>
                <a:latin typeface="Playfair Display ExtraBold" pitchFamily="34" charset="0"/>
                <a:ea typeface="Playfair Display ExtraBold" pitchFamily="34" charset="-122"/>
                <a:cs typeface="Playfair Display ExtraBold" pitchFamily="34" charset="-120"/>
              </a:rPr>
              <a:t>Manager Log: Pipeline Audit (Part 2)</a:t>
            </a:r>
            <a:endParaRPr lang="en-US" sz="2100" dirty="0"/>
          </a:p>
        </p:txBody>
      </p:sp>
      <p:sp>
        <p:nvSpPr>
          <p:cNvPr id="4" name="Shape 1"/>
          <p:cNvSpPr/>
          <p:nvPr/>
        </p:nvSpPr>
        <p:spPr>
          <a:xfrm>
            <a:off x="571500" y="1021556"/>
            <a:ext cx="8001000" cy="3571875"/>
          </a:xfrm>
          <a:prstGeom prst="rect">
            <a:avLst/>
          </a:prstGeom>
          <a:solidFill>
            <a:srgbClr val="050A18"/>
          </a:solidFill>
          <a:ln w="9144">
            <a:solidFill>
              <a:srgbClr val="D4AF37"/>
            </a:solidFill>
            <a:prstDash val="solid"/>
          </a:ln>
        </p:spPr>
        <p:txBody>
          <a:bodyPr/>
          <a:lstStyle/>
          <a:p>
            <a:endParaRPr lang="en-US"/>
          </a:p>
        </p:txBody>
      </p:sp>
      <p:sp>
        <p:nvSpPr>
          <p:cNvPr id="5" name="Text 2"/>
          <p:cNvSpPr/>
          <p:nvPr/>
        </p:nvSpPr>
        <p:spPr>
          <a:xfrm>
            <a:off x="1021556" y="1235869"/>
            <a:ext cx="7265194" cy="160009"/>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D4AF37"/>
                </a:solidFill>
                <a:latin typeface="Fira Code" pitchFamily="34" charset="0"/>
                <a:ea typeface="Fira Code" pitchFamily="34" charset="-122"/>
                <a:cs typeface="Fira Code" pitchFamily="34" charset="-120"/>
              </a:rPr>
              <a:t>## Cycle 1: Maker: 2026-04-29 15:30</a:t>
            </a:r>
            <a:endParaRPr lang="en-US" sz="800" dirty="0"/>
          </a:p>
        </p:txBody>
      </p:sp>
      <p:sp>
        <p:nvSpPr>
          <p:cNvPr id="6" name="Text 3"/>
          <p:cNvSpPr/>
          <p:nvPr/>
        </p:nvSpPr>
        <p:spPr>
          <a:xfrm>
            <a:off x="1021556" y="1431596"/>
            <a:ext cx="7265194"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Verdict:</a:t>
            </a:r>
            <a:r>
              <a:rPr lang="en-US" sz="750" dirty="0">
                <a:solidFill>
                  <a:srgbClr val="EAEAEA"/>
                </a:solidFill>
                <a:latin typeface="Fira Code" pitchFamily="34" charset="0"/>
                <a:ea typeface="Fira Code" pitchFamily="34" charset="-122"/>
                <a:cs typeface="Fira Code" pitchFamily="34" charset="-120"/>
              </a:rPr>
              <a:t> </a:t>
            </a:r>
            <a:r>
              <a:rPr lang="en-US" sz="700" b="1" dirty="0">
                <a:solidFill>
                  <a:srgbClr val="4CAF50"/>
                </a:solidFill>
                <a:latin typeface="Fira Code" pitchFamily="34" charset="0"/>
                <a:ea typeface="Fira Code" pitchFamily="34" charset="-122"/>
                <a:cs typeface="Fira Code" pitchFamily="34" charset="-120"/>
              </a:rPr>
              <a:t>APPROVED</a:t>
            </a:r>
            <a:endParaRPr lang="en-US" sz="700" dirty="0"/>
          </a:p>
        </p:txBody>
      </p:sp>
      <p:sp>
        <p:nvSpPr>
          <p:cNvPr id="7" name="Text 4"/>
          <p:cNvSpPr/>
          <p:nvPr/>
        </p:nvSpPr>
        <p:spPr>
          <a:xfrm>
            <a:off x="1021556" y="1571597"/>
            <a:ext cx="7265194" cy="280002"/>
          </a:xfrm>
          <a:prstGeom prst="rect">
            <a:avLst/>
          </a:prstGeom>
          <a:noFill/>
          <a:ln/>
        </p:spPr>
        <p:txBody>
          <a:bodyPr wrap="squar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Notes:</a:t>
            </a:r>
            <a:r>
              <a:rPr lang="en-US" sz="750" dirty="0">
                <a:solidFill>
                  <a:srgbClr val="EAEAEA"/>
                </a:solidFill>
                <a:latin typeface="Fira Code" pitchFamily="34" charset="0"/>
                <a:ea typeface="Fira Code" pitchFamily="34" charset="-122"/>
                <a:cs typeface="Fira Code" pitchFamily="34" charset="-120"/>
              </a:rPr>
              <a:t> `data-cd` audit: CD1, CD2, CD3, CD4, CD5, CD7, CD8 verified on flyer-view.html. Site loads without external dependencies. Transparency block addresses Art. 15 + 22.</a:t>
            </a:r>
            <a:endParaRPr lang="en-US" sz="700" dirty="0"/>
          </a:p>
        </p:txBody>
      </p:sp>
      <p:sp>
        <p:nvSpPr>
          <p:cNvPr id="8" name="Text 5"/>
          <p:cNvSpPr/>
          <p:nvPr/>
        </p:nvSpPr>
        <p:spPr>
          <a:xfrm>
            <a:off x="1021556" y="2030192"/>
            <a:ext cx="7265194" cy="160009"/>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D4AF37"/>
                </a:solidFill>
                <a:latin typeface="Fira Code" pitchFamily="34" charset="0"/>
                <a:ea typeface="Fira Code" pitchFamily="34" charset="-122"/>
                <a:cs typeface="Fira Code" pitchFamily="34" charset="-120"/>
              </a:rPr>
              <a:t>## Cycle 1: Communicator: 2026-04-29 17:11</a:t>
            </a:r>
            <a:endParaRPr lang="en-US" sz="800" dirty="0"/>
          </a:p>
        </p:txBody>
      </p:sp>
      <p:sp>
        <p:nvSpPr>
          <p:cNvPr id="9" name="Text 6"/>
          <p:cNvSpPr/>
          <p:nvPr/>
        </p:nvSpPr>
        <p:spPr>
          <a:xfrm>
            <a:off x="1021556" y="2225920"/>
            <a:ext cx="7265194"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Verdict:</a:t>
            </a:r>
            <a:r>
              <a:rPr lang="en-US" sz="750" dirty="0">
                <a:solidFill>
                  <a:srgbClr val="EAEAEA"/>
                </a:solidFill>
                <a:latin typeface="Fira Code" pitchFamily="34" charset="0"/>
                <a:ea typeface="Fira Code" pitchFamily="34" charset="-122"/>
                <a:cs typeface="Fira Code" pitchFamily="34" charset="-120"/>
              </a:rPr>
              <a:t> </a:t>
            </a:r>
            <a:r>
              <a:rPr lang="en-US" sz="700" b="1" dirty="0">
                <a:solidFill>
                  <a:srgbClr val="4CAF50"/>
                </a:solidFill>
                <a:latin typeface="Fira Code" pitchFamily="34" charset="0"/>
                <a:ea typeface="Fira Code" pitchFamily="34" charset="-122"/>
                <a:cs typeface="Fira Code" pitchFamily="34" charset="-120"/>
              </a:rPr>
              <a:t>APPROVED</a:t>
            </a:r>
            <a:endParaRPr lang="en-US" sz="700" dirty="0"/>
          </a:p>
        </p:txBody>
      </p:sp>
      <p:sp>
        <p:nvSpPr>
          <p:cNvPr id="10" name="Text 7"/>
          <p:cNvSpPr/>
          <p:nvPr/>
        </p:nvSpPr>
        <p:spPr>
          <a:xfrm>
            <a:off x="1021556" y="2365921"/>
            <a:ext cx="7265194" cy="280002"/>
          </a:xfrm>
          <a:prstGeom prst="rect">
            <a:avLst/>
          </a:prstGeom>
          <a:noFill/>
          <a:ln/>
        </p:spPr>
        <p:txBody>
          <a:bodyPr wrap="squar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Notes:</a:t>
            </a:r>
            <a:r>
              <a:rPr lang="en-US" sz="750" dirty="0">
                <a:solidFill>
                  <a:srgbClr val="EAEAEA"/>
                </a:solidFill>
                <a:latin typeface="Fira Code" pitchFamily="34" charset="0"/>
                <a:ea typeface="Fira Code" pitchFamily="34" charset="-122"/>
                <a:cs typeface="Fira Code" pitchFamily="34" charset="-120"/>
              </a:rPr>
              <a:t> Dara's voice is distinct. The Rashida email in §4.3 is the standout. Every customer-facing piece carries a plain-English lawful-basis disclosure.</a:t>
            </a:r>
            <a:endParaRPr lang="en-US" sz="700" dirty="0"/>
          </a:p>
        </p:txBody>
      </p:sp>
      <p:sp>
        <p:nvSpPr>
          <p:cNvPr id="11" name="Text 8"/>
          <p:cNvSpPr/>
          <p:nvPr/>
        </p:nvSpPr>
        <p:spPr>
          <a:xfrm>
            <a:off x="1021556" y="2824516"/>
            <a:ext cx="7265194" cy="160009"/>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D4AF37"/>
                </a:solidFill>
                <a:latin typeface="Fira Code" pitchFamily="34" charset="0"/>
                <a:ea typeface="Fira Code" pitchFamily="34" charset="-122"/>
                <a:cs typeface="Fira Code" pitchFamily="34" charset="-120"/>
              </a:rPr>
              <a:t>## Cycle 1: Manager (final synthesis): 2026-04-29 18:42</a:t>
            </a:r>
            <a:endParaRPr lang="en-US" sz="800" dirty="0"/>
          </a:p>
        </p:txBody>
      </p:sp>
      <p:sp>
        <p:nvSpPr>
          <p:cNvPr id="12" name="Text 9"/>
          <p:cNvSpPr/>
          <p:nvPr/>
        </p:nvSpPr>
        <p:spPr>
          <a:xfrm>
            <a:off x="1021556" y="3020244"/>
            <a:ext cx="7265194"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Verdict:</a:t>
            </a:r>
            <a:r>
              <a:rPr lang="en-US" sz="750" dirty="0">
                <a:solidFill>
                  <a:srgbClr val="EAEAEA"/>
                </a:solidFill>
                <a:latin typeface="Fira Code" pitchFamily="34" charset="0"/>
                <a:ea typeface="Fira Code" pitchFamily="34" charset="-122"/>
                <a:cs typeface="Fira Code" pitchFamily="34" charset="-120"/>
              </a:rPr>
              <a:t> </a:t>
            </a:r>
            <a:r>
              <a:rPr lang="en-US" sz="700" b="1" dirty="0">
                <a:solidFill>
                  <a:srgbClr val="4CAF50"/>
                </a:solidFill>
                <a:latin typeface="Fira Code" pitchFamily="34" charset="0"/>
                <a:ea typeface="Fira Code" pitchFamily="34" charset="-122"/>
                <a:cs typeface="Fira Code" pitchFamily="34" charset="-120"/>
              </a:rPr>
              <a:t>SELF-APPROVED</a:t>
            </a:r>
            <a:endParaRPr lang="en-US" sz="700" dirty="0"/>
          </a:p>
        </p:txBody>
      </p:sp>
      <p:sp>
        <p:nvSpPr>
          <p:cNvPr id="13" name="Text 10"/>
          <p:cNvSpPr/>
          <p:nvPr/>
        </p:nvSpPr>
        <p:spPr>
          <a:xfrm>
            <a:off x="1021556" y="3160244"/>
            <a:ext cx="7265194" cy="280002"/>
          </a:xfrm>
          <a:prstGeom prst="rect">
            <a:avLst/>
          </a:prstGeom>
          <a:noFill/>
          <a:ln/>
        </p:spPr>
        <p:txBody>
          <a:bodyPr wrap="square" lIns="0" tIns="0" rIns="0" bIns="0"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Notes:</a:t>
            </a:r>
            <a:r>
              <a:rPr lang="en-US" sz="750" dirty="0">
                <a:solidFill>
                  <a:srgbClr val="EAEAEA"/>
                </a:solidFill>
                <a:latin typeface="Fira Code" pitchFamily="34" charset="0"/>
                <a:ea typeface="Fira Code" pitchFamily="34" charset="-122"/>
                <a:cs typeface="Fira Code" pitchFamily="34" charset="-120"/>
              </a:rPr>
              <a:t> All four prior artefacts referenced. Self-assessment is honest. Pipeline complete. All five artefacts in approved state.</a:t>
            </a:r>
            <a:endParaRPr lang="en-US" sz="700" dirty="0"/>
          </a:p>
        </p:txBody>
      </p:sp>
      <p:sp>
        <p:nvSpPr>
          <p:cNvPr id="14" name="Shape 11"/>
          <p:cNvSpPr/>
          <p:nvPr/>
        </p:nvSpPr>
        <p:spPr>
          <a:xfrm>
            <a:off x="857250" y="3618840"/>
            <a:ext cx="7429500" cy="368601"/>
          </a:xfrm>
          <a:prstGeom prst="rect">
            <a:avLst/>
          </a:prstGeom>
          <a:solidFill>
            <a:srgbClr val="D4AF37">
              <a:alpha val="10000"/>
            </a:srgbClr>
          </a:solidFill>
          <a:ln w="9144">
            <a:solidFill>
              <a:srgbClr val="D4AF37"/>
            </a:solidFill>
            <a:prstDash val="dash"/>
          </a:ln>
        </p:spPr>
        <p:txBody>
          <a:bodyPr/>
          <a:lstStyle/>
          <a:p>
            <a:endParaRPr lang="en-US"/>
          </a:p>
        </p:txBody>
      </p:sp>
      <p:sp>
        <p:nvSpPr>
          <p:cNvPr id="15" name="Text 12"/>
          <p:cNvSpPr/>
          <p:nvPr/>
        </p:nvSpPr>
        <p:spPr>
          <a:xfrm>
            <a:off x="857250" y="3618840"/>
            <a:ext cx="7429500" cy="368601"/>
          </a:xfrm>
          <a:prstGeom prst="rect">
            <a:avLst/>
          </a:prstGeom>
          <a:noFill/>
          <a:ln/>
        </p:spPr>
        <p:txBody>
          <a:bodyPr wrap="square" lIns="127508" tIns="127508" rIns="127508" bIns="127508" rtlCol="0" anchor="t">
            <a:spAutoFit/>
          </a:bodyPr>
          <a:lstStyle/>
          <a:p>
            <a:pPr marL="0" indent="0" algn="l">
              <a:lnSpc>
                <a:spcPct val="112000"/>
              </a:lnSpc>
              <a:buNone/>
            </a:pPr>
            <a:r>
              <a:rPr lang="en-US" sz="700" b="1" dirty="0">
                <a:solidFill>
                  <a:srgbClr val="EAEAEA"/>
                </a:solidFill>
                <a:latin typeface="Fira Code" pitchFamily="34" charset="0"/>
                <a:ea typeface="Fira Code" pitchFamily="34" charset="-122"/>
                <a:cs typeface="Fira Code" pitchFamily="34" charset="-120"/>
              </a:rPr>
              <a:t>Final Audit Summary:</a:t>
            </a:r>
            <a:r>
              <a:rPr lang="en-US" sz="750" dirty="0">
                <a:solidFill>
                  <a:srgbClr val="EAEAEA"/>
                </a:solidFill>
                <a:latin typeface="Fira Code" pitchFamily="34" charset="0"/>
                <a:ea typeface="Fira Code" pitchFamily="34" charset="-122"/>
                <a:cs typeface="Fira Code" pitchFamily="34" charset="-120"/>
              </a:rPr>
              <a:t> 6 cycles, 1 substantive return, full traceability. Band: Excellent (90/100).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285750"/>
            <a:ext cx="8572500" cy="400050"/>
          </a:xfrm>
          <a:prstGeom prst="rect">
            <a:avLst/>
          </a:prstGeom>
          <a:noFill/>
          <a:ln/>
        </p:spPr>
        <p:txBody>
          <a:bodyPr wrap="square" lIns="0" tIns="0" rIns="0" bIns="0" rtlCol="0" anchor="t">
            <a:spAutoFit/>
          </a:bodyPr>
          <a:lstStyle/>
          <a:p>
            <a:pPr marL="0" indent="0" algn="l">
              <a:buNone/>
            </a:pPr>
            <a:r>
              <a:rPr lang="en-US" sz="2100" b="1" dirty="0">
                <a:solidFill>
                  <a:srgbClr val="D4AF37"/>
                </a:solidFill>
                <a:latin typeface="Playfair Display ExtraBold" pitchFamily="34" charset="0"/>
                <a:ea typeface="Playfair Display ExtraBold" pitchFamily="34" charset="-122"/>
                <a:cs typeface="Playfair Display ExtraBold" pitchFamily="34" charset="-120"/>
              </a:rPr>
              <a:t>Prototype: CSM Dashboard</a:t>
            </a:r>
            <a:endParaRPr lang="en-US" sz="2100" dirty="0"/>
          </a:p>
        </p:txBody>
      </p:sp>
      <p:sp>
        <p:nvSpPr>
          <p:cNvPr id="4" name="Shape 1"/>
          <p:cNvSpPr/>
          <p:nvPr/>
        </p:nvSpPr>
        <p:spPr>
          <a:xfrm>
            <a:off x="571500" y="1021556"/>
            <a:ext cx="8001000" cy="3714750"/>
          </a:xfrm>
          <a:prstGeom prst="rect">
            <a:avLst/>
          </a:prstGeom>
          <a:solidFill>
            <a:srgbClr val="000000"/>
          </a:solidFill>
          <a:ln w="18288">
            <a:solidFill>
              <a:srgbClr val="D4AF37"/>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571500" y="1021556"/>
            <a:ext cx="8001000" cy="3714750"/>
          </a:xfrm>
          <a:prstGeom prst="rect">
            <a:avLst/>
          </a:prstGeom>
        </p:spPr>
      </p:pic>
      <p:sp>
        <p:nvSpPr>
          <p:cNvPr id="6" name="Text 2"/>
          <p:cNvSpPr/>
          <p:nvPr/>
        </p:nvSpPr>
        <p:spPr>
          <a:xfrm>
            <a:off x="571500" y="4843463"/>
            <a:ext cx="8572500" cy="139303"/>
          </a:xfrm>
          <a:prstGeom prst="rect">
            <a:avLst/>
          </a:prstGeom>
          <a:noFill/>
          <a:ln/>
        </p:spPr>
        <p:txBody>
          <a:bodyPr wrap="square" lIns="0" tIns="0" rIns="0" bIns="0" rtlCol="0" anchor="t">
            <a:spAutoFit/>
          </a:bodyPr>
          <a:lstStyle/>
          <a:p>
            <a:pPr marL="0" indent="0" algn="l">
              <a:buNone/>
            </a:pPr>
            <a:r>
              <a:rPr lang="en-US" sz="850" i="1" dirty="0">
                <a:solidFill>
                  <a:srgbClr val="D4AF37"/>
                </a:solidFill>
                <a:latin typeface="Montserrat" pitchFamily="34" charset="0"/>
                <a:ea typeface="Montserrat" pitchFamily="34" charset="-122"/>
                <a:cs typeface="Montserrat" pitchFamily="34" charset="-120"/>
              </a:rPr>
              <a:t>Customer Success Manager view showing at-risk flyers and intervention suggestions.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285750"/>
            <a:ext cx="8572500" cy="400050"/>
          </a:xfrm>
          <a:prstGeom prst="rect">
            <a:avLst/>
          </a:prstGeom>
          <a:noFill/>
          <a:ln/>
        </p:spPr>
        <p:txBody>
          <a:bodyPr wrap="square" lIns="0" tIns="0" rIns="0" bIns="0" rtlCol="0" anchor="t">
            <a:spAutoFit/>
          </a:bodyPr>
          <a:lstStyle/>
          <a:p>
            <a:pPr marL="0" indent="0" algn="l">
              <a:buNone/>
            </a:pPr>
            <a:r>
              <a:rPr lang="en-US" sz="2100" b="1" dirty="0">
                <a:solidFill>
                  <a:srgbClr val="D4AF37"/>
                </a:solidFill>
                <a:latin typeface="Playfair Display ExtraBold" pitchFamily="34" charset="0"/>
                <a:ea typeface="Playfair Display ExtraBold" pitchFamily="34" charset="-122"/>
                <a:cs typeface="Playfair Display ExtraBold" pitchFamily="34" charset="-120"/>
              </a:rPr>
              <a:t>Prototype: Flyer-Facing UI</a:t>
            </a:r>
            <a:endParaRPr lang="en-US" sz="2100" dirty="0"/>
          </a:p>
        </p:txBody>
      </p:sp>
      <p:sp>
        <p:nvSpPr>
          <p:cNvPr id="4" name="Shape 1"/>
          <p:cNvSpPr/>
          <p:nvPr/>
        </p:nvSpPr>
        <p:spPr>
          <a:xfrm>
            <a:off x="571500" y="1021556"/>
            <a:ext cx="8001000" cy="3714750"/>
          </a:xfrm>
          <a:prstGeom prst="rect">
            <a:avLst/>
          </a:prstGeom>
          <a:solidFill>
            <a:srgbClr val="000000"/>
          </a:solidFill>
          <a:ln w="18288">
            <a:solidFill>
              <a:srgbClr val="D4AF37"/>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571500" y="1021556"/>
            <a:ext cx="8001000" cy="3714750"/>
          </a:xfrm>
          <a:prstGeom prst="rect">
            <a:avLst/>
          </a:prstGeom>
        </p:spPr>
      </p:pic>
      <p:sp>
        <p:nvSpPr>
          <p:cNvPr id="6" name="Text 2"/>
          <p:cNvSpPr/>
          <p:nvPr/>
        </p:nvSpPr>
        <p:spPr>
          <a:xfrm>
            <a:off x="571500" y="4843463"/>
            <a:ext cx="8572500" cy="139303"/>
          </a:xfrm>
          <a:prstGeom prst="rect">
            <a:avLst/>
          </a:prstGeom>
          <a:noFill/>
          <a:ln/>
        </p:spPr>
        <p:txBody>
          <a:bodyPr wrap="square" lIns="0" tIns="0" rIns="0" bIns="0" rtlCol="0" anchor="t">
            <a:spAutoFit/>
          </a:bodyPr>
          <a:lstStyle/>
          <a:p>
            <a:pPr marL="0" indent="0" algn="l">
              <a:buNone/>
            </a:pPr>
            <a:r>
              <a:rPr lang="en-US" sz="850" i="1" dirty="0">
                <a:solidFill>
                  <a:srgbClr val="D4AF37"/>
                </a:solidFill>
                <a:latin typeface="Montserrat" pitchFamily="34" charset="0"/>
                <a:ea typeface="Montserrat" pitchFamily="34" charset="-122"/>
                <a:cs typeface="Montserrat" pitchFamily="34" charset="-120"/>
              </a:rPr>
              <a:t>Gamified retention interface demonstrating Octalysis Core Drives.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285750"/>
            <a:ext cx="8572500" cy="400050"/>
          </a:xfrm>
          <a:prstGeom prst="rect">
            <a:avLst/>
          </a:prstGeom>
          <a:noFill/>
          <a:ln/>
        </p:spPr>
        <p:txBody>
          <a:bodyPr wrap="square" lIns="0" tIns="0" rIns="0" bIns="0" rtlCol="0" anchor="t">
            <a:spAutoFit/>
          </a:bodyPr>
          <a:lstStyle/>
          <a:p>
            <a:pPr marL="0" indent="0" algn="l">
              <a:buNone/>
            </a:pPr>
            <a:r>
              <a:rPr lang="en-US" sz="2100" b="1" dirty="0">
                <a:solidFill>
                  <a:srgbClr val="D4AF37"/>
                </a:solidFill>
                <a:latin typeface="Playfair Display ExtraBold" pitchFamily="34" charset="0"/>
                <a:ea typeface="Playfair Display ExtraBold" pitchFamily="34" charset="-122"/>
                <a:cs typeface="Playfair Display ExtraBold" pitchFamily="34" charset="-120"/>
              </a:rPr>
              <a:t>SkyJet Airways: Airline Website</a:t>
            </a:r>
            <a:endParaRPr lang="en-US" sz="2100" dirty="0"/>
          </a:p>
        </p:txBody>
      </p:sp>
      <p:sp>
        <p:nvSpPr>
          <p:cNvPr id="4" name="Shape 1"/>
          <p:cNvSpPr/>
          <p:nvPr/>
        </p:nvSpPr>
        <p:spPr>
          <a:xfrm>
            <a:off x="571500" y="1021556"/>
            <a:ext cx="8001000" cy="3714750"/>
          </a:xfrm>
          <a:prstGeom prst="rect">
            <a:avLst/>
          </a:prstGeom>
          <a:solidFill>
            <a:srgbClr val="000000"/>
          </a:solidFill>
          <a:ln w="18288">
            <a:solidFill>
              <a:srgbClr val="D4AF37"/>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571500" y="1021556"/>
            <a:ext cx="8001000" cy="3714750"/>
          </a:xfrm>
          <a:prstGeom prst="rect">
            <a:avLst/>
          </a:prstGeom>
        </p:spPr>
      </p:pic>
      <p:sp>
        <p:nvSpPr>
          <p:cNvPr id="6" name="Text 2"/>
          <p:cNvSpPr/>
          <p:nvPr/>
        </p:nvSpPr>
        <p:spPr>
          <a:xfrm>
            <a:off x="571500" y="4843463"/>
            <a:ext cx="8572500" cy="139303"/>
          </a:xfrm>
          <a:prstGeom prst="rect">
            <a:avLst/>
          </a:prstGeom>
          <a:noFill/>
          <a:ln/>
        </p:spPr>
        <p:txBody>
          <a:bodyPr wrap="square" lIns="0" tIns="0" rIns="0" bIns="0" rtlCol="0" anchor="t">
            <a:spAutoFit/>
          </a:bodyPr>
          <a:lstStyle/>
          <a:p>
            <a:pPr marL="0" indent="0" algn="l">
              <a:buNone/>
            </a:pPr>
            <a:r>
              <a:rPr lang="en-US" sz="850" i="1" dirty="0">
                <a:solidFill>
                  <a:srgbClr val="D4AF37"/>
                </a:solidFill>
                <a:latin typeface="Montserrat" pitchFamily="34" charset="0"/>
                <a:ea typeface="Montserrat" pitchFamily="34" charset="-122"/>
                <a:cs typeface="Montserrat" pitchFamily="34" charset="-120"/>
              </a:rPr>
              <a:t>The fictional airline's main website interface.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0" y="0"/>
            <a:ext cx="4114800" cy="5143500"/>
          </a:xfrm>
          <a:prstGeom prst="rect">
            <a:avLst/>
          </a:prstGeom>
        </p:spPr>
      </p:pic>
      <p:sp>
        <p:nvSpPr>
          <p:cNvPr id="4" name="Text 0"/>
          <p:cNvSpPr/>
          <p:nvPr/>
        </p:nvSpPr>
        <p:spPr>
          <a:xfrm>
            <a:off x="4543425" y="428625"/>
            <a:ext cx="4171950" cy="411463"/>
          </a:xfrm>
          <a:prstGeom prst="rect">
            <a:avLst/>
          </a:prstGeom>
          <a:noFill/>
          <a:ln/>
        </p:spPr>
        <p:txBody>
          <a:bodyPr wrap="none" lIns="0" tIns="0" rIns="0" bIns="0" rtlCol="0" anchor="t">
            <a:spAutoFit/>
          </a:bodyPr>
          <a:lstStyle/>
          <a:p>
            <a:pPr marL="0" indent="0" algn="l">
              <a:lnSpc>
                <a:spcPct val="96000"/>
              </a:lnSpc>
              <a:buNone/>
            </a:pPr>
            <a:r>
              <a:rPr lang="en-US" sz="2450" b="1" dirty="0">
                <a:solidFill>
                  <a:srgbClr val="D4AF37"/>
                </a:solidFill>
                <a:latin typeface="Playfair Display ExtraBold" pitchFamily="34" charset="0"/>
                <a:ea typeface="Playfair Display ExtraBold" pitchFamily="34" charset="-122"/>
                <a:cs typeface="Playfair Display ExtraBold" pitchFamily="34" charset="-120"/>
              </a:rPr>
              <a:t>Regulatory Governance</a:t>
            </a:r>
            <a:endParaRPr lang="en-US" sz="2450" dirty="0"/>
          </a:p>
        </p:txBody>
      </p:sp>
      <p:sp>
        <p:nvSpPr>
          <p:cNvPr id="5" name="Shape 1"/>
          <p:cNvSpPr/>
          <p:nvPr/>
        </p:nvSpPr>
        <p:spPr>
          <a:xfrm>
            <a:off x="4543425" y="1283001"/>
            <a:ext cx="1321594" cy="150019"/>
          </a:xfrm>
          <a:prstGeom prst="rect">
            <a:avLst/>
          </a:prstGeom>
          <a:solidFill>
            <a:srgbClr val="D4AF37">
              <a:alpha val="15000"/>
            </a:srgbClr>
          </a:solidFill>
          <a:ln/>
        </p:spPr>
        <p:txBody>
          <a:bodyPr/>
          <a:lstStyle/>
          <a:p>
            <a:endParaRPr lang="en-US"/>
          </a:p>
        </p:txBody>
      </p:sp>
      <p:sp>
        <p:nvSpPr>
          <p:cNvPr id="6" name="Text 2"/>
          <p:cNvSpPr/>
          <p:nvPr/>
        </p:nvSpPr>
        <p:spPr>
          <a:xfrm>
            <a:off x="4543425" y="1283001"/>
            <a:ext cx="1321594" cy="150019"/>
          </a:xfrm>
          <a:prstGeom prst="rect">
            <a:avLst/>
          </a:prstGeom>
          <a:noFill/>
          <a:ln/>
        </p:spPr>
        <p:txBody>
          <a:bodyPr wrap="square" lIns="102108" tIns="34036" rIns="102108" bIns="0" rtlCol="0" anchor="t">
            <a:spAutoFit/>
          </a:bodyPr>
          <a:lstStyle/>
          <a:p>
            <a:pPr marL="0" indent="0" algn="l">
              <a:buNone/>
            </a:pPr>
            <a:r>
              <a:rPr lang="en-US" sz="700" b="1" kern="0" spc="1" dirty="0">
                <a:solidFill>
                  <a:srgbClr val="D4AF37"/>
                </a:solidFill>
                <a:latin typeface="Montserrat Bold" pitchFamily="34" charset="0"/>
                <a:ea typeface="Montserrat Bold" pitchFamily="34" charset="-122"/>
                <a:cs typeface="Montserrat Bold" pitchFamily="34" charset="-120"/>
              </a:rPr>
              <a:t>GDPR COMPLIANCE</a:t>
            </a:r>
            <a:endParaRPr lang="en-US" sz="700" dirty="0"/>
          </a:p>
        </p:txBody>
      </p:sp>
      <p:sp>
        <p:nvSpPr>
          <p:cNvPr id="7" name="Text 3"/>
          <p:cNvSpPr/>
          <p:nvPr/>
        </p:nvSpPr>
        <p:spPr>
          <a:xfrm>
            <a:off x="4543425" y="1504457"/>
            <a:ext cx="4171950" cy="266105"/>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Playfair Display ExtraBold" pitchFamily="34" charset="0"/>
                <a:ea typeface="Playfair Display ExtraBold" pitchFamily="34" charset="-122"/>
                <a:cs typeface="Playfair Display ExtraBold" pitchFamily="34" charset="-120"/>
              </a:rPr>
              <a:t>Human-in-the-Loop</a:t>
            </a:r>
            <a:endParaRPr lang="en-US" sz="1400" dirty="0"/>
          </a:p>
        </p:txBody>
      </p:sp>
      <p:sp>
        <p:nvSpPr>
          <p:cNvPr id="8" name="Text 4"/>
          <p:cNvSpPr/>
          <p:nvPr/>
        </p:nvSpPr>
        <p:spPr>
          <a:xfrm>
            <a:off x="4543425" y="1877718"/>
            <a:ext cx="4171950" cy="733342"/>
          </a:xfrm>
          <a:prstGeom prst="rect">
            <a:avLst/>
          </a:prstGeom>
          <a:noFill/>
          <a:ln/>
        </p:spPr>
        <p:txBody>
          <a:bodyPr wrap="square" lIns="0" tIns="0" rIns="0" bIns="0" rtlCol="0" anchor="t">
            <a:spAutoFit/>
          </a:bodyPr>
          <a:lstStyle/>
          <a:p>
            <a:pPr marL="0" indent="0" algn="just">
              <a:lnSpc>
                <a:spcPct val="128000"/>
              </a:lnSpc>
              <a:buNone/>
            </a:pPr>
            <a:r>
              <a:rPr lang="en-US" sz="950" dirty="0">
                <a:solidFill>
                  <a:srgbClr val="EAEAEA"/>
                </a:solidFill>
                <a:latin typeface="Montserrat Light" pitchFamily="34" charset="0"/>
                <a:ea typeface="Montserrat Light" pitchFamily="34" charset="-122"/>
                <a:cs typeface="Montserrat Light" pitchFamily="34" charset="-120"/>
              </a:rPr>
              <a:t>SkyLoyal satisfies GDPR Article 22 by ensuring that no automated decision-making occurs without human intervention. The Customer Success Manager (CSM) acts as the final gate, reviewing and approving every AI-generated intervention before it reaches the flyer.</a:t>
            </a:r>
            <a:endParaRPr lang="en-US" sz="950" dirty="0"/>
          </a:p>
        </p:txBody>
      </p:sp>
      <p:sp>
        <p:nvSpPr>
          <p:cNvPr id="9" name="Shape 5"/>
          <p:cNvSpPr/>
          <p:nvPr/>
        </p:nvSpPr>
        <p:spPr>
          <a:xfrm>
            <a:off x="4543425" y="3192056"/>
            <a:ext cx="757238" cy="150019"/>
          </a:xfrm>
          <a:prstGeom prst="rect">
            <a:avLst/>
          </a:prstGeom>
          <a:solidFill>
            <a:srgbClr val="D4AF37">
              <a:alpha val="15000"/>
            </a:srgbClr>
          </a:solidFill>
          <a:ln/>
        </p:spPr>
        <p:txBody>
          <a:bodyPr/>
          <a:lstStyle/>
          <a:p>
            <a:endParaRPr lang="en-US"/>
          </a:p>
        </p:txBody>
      </p:sp>
      <p:sp>
        <p:nvSpPr>
          <p:cNvPr id="10" name="Text 6"/>
          <p:cNvSpPr/>
          <p:nvPr/>
        </p:nvSpPr>
        <p:spPr>
          <a:xfrm>
            <a:off x="4543425" y="3192056"/>
            <a:ext cx="757238" cy="150019"/>
          </a:xfrm>
          <a:prstGeom prst="rect">
            <a:avLst/>
          </a:prstGeom>
          <a:noFill/>
          <a:ln/>
        </p:spPr>
        <p:txBody>
          <a:bodyPr wrap="none" lIns="102108" tIns="34036" rIns="102108" bIns="0" rtlCol="0" anchor="t">
            <a:spAutoFit/>
          </a:bodyPr>
          <a:lstStyle/>
          <a:p>
            <a:pPr marL="0" indent="0" algn="l">
              <a:buNone/>
            </a:pPr>
            <a:r>
              <a:rPr lang="en-US" sz="700" b="1" kern="0" spc="1" dirty="0">
                <a:solidFill>
                  <a:srgbClr val="D4AF37"/>
                </a:solidFill>
                <a:latin typeface="Montserrat Bold" pitchFamily="34" charset="0"/>
                <a:ea typeface="Montserrat Bold" pitchFamily="34" charset="-122"/>
                <a:cs typeface="Montserrat Bold" pitchFamily="34" charset="-120"/>
              </a:rPr>
              <a:t>EU AI ACT</a:t>
            </a:r>
            <a:endParaRPr lang="en-US" sz="700" dirty="0"/>
          </a:p>
        </p:txBody>
      </p:sp>
      <p:sp>
        <p:nvSpPr>
          <p:cNvPr id="11" name="Text 7"/>
          <p:cNvSpPr/>
          <p:nvPr/>
        </p:nvSpPr>
        <p:spPr>
          <a:xfrm>
            <a:off x="4543425" y="3413513"/>
            <a:ext cx="4171950" cy="266105"/>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Playfair Display ExtraBold" pitchFamily="34" charset="0"/>
                <a:ea typeface="Playfair Display ExtraBold" pitchFamily="34" charset="-122"/>
                <a:cs typeface="Playfair Display ExtraBold" pitchFamily="34" charset="-120"/>
              </a:rPr>
              <a:t>Limited-Risk Classification</a:t>
            </a:r>
            <a:endParaRPr lang="en-US" sz="1400" dirty="0"/>
          </a:p>
        </p:txBody>
      </p:sp>
      <p:sp>
        <p:nvSpPr>
          <p:cNvPr id="12" name="Text 8"/>
          <p:cNvSpPr/>
          <p:nvPr/>
        </p:nvSpPr>
        <p:spPr>
          <a:xfrm>
            <a:off x="4543425" y="3786774"/>
            <a:ext cx="4171950" cy="733342"/>
          </a:xfrm>
          <a:prstGeom prst="rect">
            <a:avLst/>
          </a:prstGeom>
          <a:noFill/>
          <a:ln/>
        </p:spPr>
        <p:txBody>
          <a:bodyPr wrap="square" lIns="0" tIns="0" rIns="0" bIns="0" rtlCol="0" anchor="t">
            <a:spAutoFit/>
          </a:bodyPr>
          <a:lstStyle/>
          <a:p>
            <a:pPr marL="0" indent="0" algn="just">
              <a:lnSpc>
                <a:spcPct val="128000"/>
              </a:lnSpc>
              <a:buNone/>
            </a:pPr>
            <a:r>
              <a:rPr lang="en-US" sz="950" dirty="0">
                <a:solidFill>
                  <a:srgbClr val="EAEAEA"/>
                </a:solidFill>
                <a:latin typeface="Montserrat Light" pitchFamily="34" charset="0"/>
                <a:ea typeface="Montserrat Light" pitchFamily="34" charset="-122"/>
                <a:cs typeface="Montserrat Light" pitchFamily="34" charset="-120"/>
              </a:rPr>
              <a:t>Classified as a Limited-Risk system under Title IV, SkyLoyal meets all transparency obligations. Flyers are explicitly informed of AI-assisted interactions and a comprehensive audit trail is maintained through the agentic pipeline's version-controlled artifacts.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285750"/>
            <a:ext cx="8572500" cy="457200"/>
          </a:xfrm>
          <a:prstGeom prst="rect">
            <a:avLst/>
          </a:prstGeom>
          <a:noFill/>
          <a:ln/>
        </p:spPr>
        <p:txBody>
          <a:bodyPr wrap="square" lIns="0" tIns="0" rIns="0" bIns="0" rtlCol="0" anchor="t">
            <a:spAutoFit/>
          </a:bodyPr>
          <a:lstStyle/>
          <a:p>
            <a:pPr marL="0" indent="0" algn="l">
              <a:buNone/>
            </a:pPr>
            <a:r>
              <a:rPr lang="en-US" sz="2450" b="1" dirty="0">
                <a:solidFill>
                  <a:srgbClr val="D4AF37"/>
                </a:solidFill>
                <a:latin typeface="Playfair Display ExtraBold" pitchFamily="34" charset="0"/>
                <a:ea typeface="Playfair Display ExtraBold" pitchFamily="34" charset="-122"/>
                <a:cs typeface="Playfair Display ExtraBold" pitchFamily="34" charset="-120"/>
              </a:rPr>
              <a:t>Ethical Considerations: Trust &amp; Gamification</a:t>
            </a:r>
            <a:endParaRPr lang="en-US" sz="2450" dirty="0"/>
          </a:p>
        </p:txBody>
      </p:sp>
      <p:sp>
        <p:nvSpPr>
          <p:cNvPr id="4" name="Text 1"/>
          <p:cNvSpPr/>
          <p:nvPr/>
        </p:nvSpPr>
        <p:spPr>
          <a:xfrm>
            <a:off x="571500" y="1150144"/>
            <a:ext cx="3714750" cy="228600"/>
          </a:xfrm>
          <a:prstGeom prst="rect">
            <a:avLst/>
          </a:prstGeom>
          <a:noFill/>
          <a:ln/>
        </p:spPr>
        <p:txBody>
          <a:bodyPr wrap="square" lIns="0" tIns="0" rIns="0" bIns="0" rtlCol="0" anchor="t">
            <a:spAutoFit/>
          </a:bodyPr>
          <a:lstStyle/>
          <a:p>
            <a:pPr marL="0" indent="0" algn="l">
              <a:buNone/>
            </a:pPr>
            <a:r>
              <a:rPr lang="en-US" sz="1200" b="1" dirty="0">
                <a:solidFill>
                  <a:srgbClr val="D4AF37"/>
                </a:solidFill>
                <a:latin typeface="Playfair Display ExtraBold" pitchFamily="34" charset="0"/>
                <a:ea typeface="Playfair Display ExtraBold" pitchFamily="34" charset="-122"/>
                <a:cs typeface="Playfair Display ExtraBold" pitchFamily="34" charset="-120"/>
              </a:rPr>
              <a:t>White-Hat Design Priority</a:t>
            </a:r>
            <a:endParaRPr lang="en-US" sz="1200" dirty="0"/>
          </a:p>
        </p:txBody>
      </p:sp>
      <p:sp>
        <p:nvSpPr>
          <p:cNvPr id="5" name="Text 2"/>
          <p:cNvSpPr/>
          <p:nvPr/>
        </p:nvSpPr>
        <p:spPr>
          <a:xfrm>
            <a:off x="571500" y="1450181"/>
            <a:ext cx="3714750" cy="51435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EAEAEA"/>
                </a:solidFill>
                <a:latin typeface="Montserrat Light" pitchFamily="34" charset="0"/>
                <a:ea typeface="Montserrat Light" pitchFamily="34" charset="-122"/>
                <a:cs typeface="Montserrat Light" pitchFamily="34" charset="-120"/>
              </a:rPr>
              <a:t>SkyLoyal maintains an 81/19 White-Hat to Black-Hat ratio. Core Drive 6 (Scarcity) is omitted to prevent manipulation, ensuring the system empowers rather than exploits.</a:t>
            </a:r>
            <a:endParaRPr lang="en-US" sz="850" dirty="0"/>
          </a:p>
        </p:txBody>
      </p:sp>
      <p:sp>
        <p:nvSpPr>
          <p:cNvPr id="6" name="Text 3"/>
          <p:cNvSpPr/>
          <p:nvPr/>
        </p:nvSpPr>
        <p:spPr>
          <a:xfrm>
            <a:off x="571500" y="2178844"/>
            <a:ext cx="3714750" cy="228600"/>
          </a:xfrm>
          <a:prstGeom prst="rect">
            <a:avLst/>
          </a:prstGeom>
          <a:noFill/>
          <a:ln/>
        </p:spPr>
        <p:txBody>
          <a:bodyPr wrap="square" lIns="0" tIns="0" rIns="0" bIns="0" rtlCol="0" anchor="t">
            <a:spAutoFit/>
          </a:bodyPr>
          <a:lstStyle/>
          <a:p>
            <a:pPr marL="0" indent="0" algn="l">
              <a:buNone/>
            </a:pPr>
            <a:r>
              <a:rPr lang="en-US" sz="1200" b="1" dirty="0">
                <a:solidFill>
                  <a:srgbClr val="D4AF37"/>
                </a:solidFill>
                <a:latin typeface="Playfair Display ExtraBold" pitchFamily="34" charset="0"/>
                <a:ea typeface="Playfair Display ExtraBold" pitchFamily="34" charset="-122"/>
                <a:cs typeface="Playfair Display ExtraBold" pitchFamily="34" charset="-120"/>
              </a:rPr>
              <a:t>Radical Transparency</a:t>
            </a:r>
            <a:endParaRPr lang="en-US" sz="1200" dirty="0"/>
          </a:p>
        </p:txBody>
      </p:sp>
      <p:sp>
        <p:nvSpPr>
          <p:cNvPr id="7" name="Text 4"/>
          <p:cNvSpPr/>
          <p:nvPr/>
        </p:nvSpPr>
        <p:spPr>
          <a:xfrm>
            <a:off x="571500" y="2478881"/>
            <a:ext cx="3714750" cy="51435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EAEAEA"/>
                </a:solidFill>
                <a:latin typeface="Montserrat Light" pitchFamily="34" charset="0"/>
                <a:ea typeface="Montserrat Light" pitchFamily="34" charset="-122"/>
                <a:cs typeface="Montserrat Light" pitchFamily="34" charset="-120"/>
              </a:rPr>
              <a:t>The "Why am I seeing this?" block on the flyer UI provides a plain-English explanation of the risk-scoring logic, fulfilling the right to explanation.</a:t>
            </a:r>
            <a:endParaRPr lang="en-US" sz="850" dirty="0"/>
          </a:p>
        </p:txBody>
      </p:sp>
      <p:sp>
        <p:nvSpPr>
          <p:cNvPr id="8" name="Text 5"/>
          <p:cNvSpPr/>
          <p:nvPr/>
        </p:nvSpPr>
        <p:spPr>
          <a:xfrm>
            <a:off x="571500" y="3207544"/>
            <a:ext cx="3714750" cy="228600"/>
          </a:xfrm>
          <a:prstGeom prst="rect">
            <a:avLst/>
          </a:prstGeom>
          <a:noFill/>
          <a:ln/>
        </p:spPr>
        <p:txBody>
          <a:bodyPr wrap="square" lIns="0" tIns="0" rIns="0" bIns="0" rtlCol="0" anchor="t">
            <a:spAutoFit/>
          </a:bodyPr>
          <a:lstStyle/>
          <a:p>
            <a:pPr marL="0" indent="0" algn="l">
              <a:buNone/>
            </a:pPr>
            <a:r>
              <a:rPr lang="en-US" sz="1200" b="1" dirty="0">
                <a:solidFill>
                  <a:srgbClr val="D4AF37"/>
                </a:solidFill>
                <a:latin typeface="Playfair Display ExtraBold" pitchFamily="34" charset="0"/>
                <a:ea typeface="Playfair Display ExtraBold" pitchFamily="34" charset="-122"/>
                <a:cs typeface="Playfair Display ExtraBold" pitchFamily="34" charset="-120"/>
              </a:rPr>
              <a:t>Proactive Trust</a:t>
            </a:r>
            <a:endParaRPr lang="en-US" sz="1200" dirty="0"/>
          </a:p>
        </p:txBody>
      </p:sp>
      <p:sp>
        <p:nvSpPr>
          <p:cNvPr id="9" name="Text 6"/>
          <p:cNvSpPr/>
          <p:nvPr/>
        </p:nvSpPr>
        <p:spPr>
          <a:xfrm>
            <a:off x="571500" y="3507581"/>
            <a:ext cx="3714750" cy="51435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EAEAEA"/>
                </a:solidFill>
                <a:latin typeface="Montserrat Light" pitchFamily="34" charset="0"/>
                <a:ea typeface="Montserrat Light" pitchFamily="34" charset="-122"/>
                <a:cs typeface="Montserrat Light" pitchFamily="34" charset="-120"/>
              </a:rPr>
              <a:t>Communications are framed as helpful interventions ("we noticed before you left"), building long-term loyalty through honesty and value.</a:t>
            </a:r>
            <a:endParaRPr lang="en-US" sz="850" dirty="0"/>
          </a:p>
        </p:txBody>
      </p:sp>
      <p:pic>
        <p:nvPicPr>
          <p:cNvPr id="10" name="Image 1" descr="preencoded.png"/>
          <p:cNvPicPr>
            <a:picLocks noChangeAspect="1"/>
          </p:cNvPicPr>
          <p:nvPr/>
        </p:nvPicPr>
        <p:blipFill>
          <a:blip r:embed="rId4"/>
          <a:stretch>
            <a:fillRect/>
          </a:stretch>
        </p:blipFill>
        <p:spPr>
          <a:xfrm>
            <a:off x="4722019" y="1157288"/>
            <a:ext cx="3843338" cy="2486025"/>
          </a:xfrm>
          <a:prstGeom prst="rect">
            <a:avLst/>
          </a:prstGeom>
        </p:spPr>
      </p:pic>
      <p:sp>
        <p:nvSpPr>
          <p:cNvPr id="11" name="Text 7"/>
          <p:cNvSpPr/>
          <p:nvPr/>
        </p:nvSpPr>
        <p:spPr>
          <a:xfrm>
            <a:off x="4714875" y="3757613"/>
            <a:ext cx="3857625" cy="242888"/>
          </a:xfrm>
          <a:prstGeom prst="rect">
            <a:avLst/>
          </a:prstGeom>
          <a:noFill/>
          <a:ln/>
        </p:spPr>
        <p:txBody>
          <a:bodyPr wrap="square" lIns="0" tIns="0" rIns="0" bIns="0" rtlCol="0" anchor="t">
            <a:spAutoFit/>
          </a:bodyPr>
          <a:lstStyle/>
          <a:p>
            <a:pPr marL="0" indent="0" algn="l">
              <a:buNone/>
            </a:pPr>
            <a:r>
              <a:rPr lang="en-US" sz="750" i="1" dirty="0">
                <a:solidFill>
                  <a:srgbClr val="D4AF37"/>
                </a:solidFill>
                <a:latin typeface="Montserrat" pitchFamily="34" charset="0"/>
                <a:ea typeface="Montserrat" pitchFamily="34" charset="-122"/>
                <a:cs typeface="Montserrat" pitchFamily="34" charset="-120"/>
              </a:rPr>
              <a:t>Figure 2: Data-CD Audit verifying the presence of 7 Core Drives in the prototype code.</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714375"/>
            <a:ext cx="8572500" cy="609005"/>
          </a:xfrm>
          <a:prstGeom prst="rect">
            <a:avLst/>
          </a:prstGeom>
          <a:noFill/>
          <a:ln/>
        </p:spPr>
        <p:txBody>
          <a:bodyPr wrap="square" lIns="0" tIns="0" rIns="0" bIns="0" rtlCol="0" anchor="t">
            <a:spAutoFit/>
          </a:bodyPr>
          <a:lstStyle/>
          <a:p>
            <a:pPr marL="0" indent="0" algn="l">
              <a:buNone/>
            </a:pPr>
            <a:r>
              <a:rPr lang="en-US" sz="3300" b="1" dirty="0">
                <a:solidFill>
                  <a:srgbClr val="D4AF37"/>
                </a:solidFill>
                <a:latin typeface="Playfair Display ExtraBold" pitchFamily="34" charset="0"/>
                <a:ea typeface="Playfair Display ExtraBold" pitchFamily="34" charset="-122"/>
                <a:cs typeface="Playfair Display ExtraBold" pitchFamily="34" charset="-120"/>
              </a:rPr>
              <a:t>Reflection</a:t>
            </a:r>
            <a:endParaRPr lang="en-US" sz="3300" dirty="0"/>
          </a:p>
        </p:txBody>
      </p:sp>
      <p:sp>
        <p:nvSpPr>
          <p:cNvPr id="4" name="Shape 1"/>
          <p:cNvSpPr/>
          <p:nvPr/>
        </p:nvSpPr>
        <p:spPr>
          <a:xfrm>
            <a:off x="571500" y="1980605"/>
            <a:ext cx="8001000" cy="2500313"/>
          </a:xfrm>
          <a:prstGeom prst="rect">
            <a:avLst/>
          </a:prstGeom>
          <a:solidFill>
            <a:srgbClr val="000000">
              <a:alpha val="0"/>
            </a:srgbClr>
          </a:solidFill>
          <a:ln w="9144">
            <a:solidFill>
              <a:srgbClr val="D4AF37">
                <a:alpha val="50000"/>
              </a:srgbClr>
            </a:solidFill>
            <a:prstDash val="dash"/>
          </a:ln>
        </p:spPr>
        <p:txBody>
          <a:bodyPr/>
          <a:lstStyle/>
          <a:p>
            <a:endParaRPr lang="en-US"/>
          </a:p>
        </p:txBody>
      </p:sp>
      <p:sp>
        <p:nvSpPr>
          <p:cNvPr id="5" name="Text 2"/>
          <p:cNvSpPr/>
          <p:nvPr/>
        </p:nvSpPr>
        <p:spPr>
          <a:xfrm>
            <a:off x="1160859" y="3269159"/>
            <a:ext cx="6822281" cy="208955"/>
          </a:xfrm>
          <a:prstGeom prst="rect">
            <a:avLst/>
          </a:prstGeom>
          <a:noFill/>
          <a:ln/>
        </p:spPr>
        <p:txBody>
          <a:bodyPr wrap="square" lIns="0" tIns="0" rIns="0" bIns="0" rtlCol="0" anchor="t">
            <a:spAutoFit/>
          </a:bodyPr>
          <a:lstStyle/>
          <a:p>
            <a:pPr marL="0" indent="0" algn="ctr">
              <a:buNone/>
            </a:pPr>
            <a:r>
              <a:rPr lang="en-US" sz="1250" i="1" dirty="0">
                <a:solidFill>
                  <a:srgbClr val="EAEAEA">
                    <a:alpha val="50000"/>
                  </a:srgbClr>
                </a:solidFill>
                <a:latin typeface="Montserrat Light" pitchFamily="34" charset="0"/>
                <a:ea typeface="Montserrat Light" pitchFamily="34" charset="-122"/>
                <a:cs typeface="Montserrat Light" pitchFamily="34" charset="-120"/>
              </a:rPr>
              <a:t>[This section is intentionally left blank for your personal reflection on the project.]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1771</Words>
  <Application>Microsoft Office PowerPoint</Application>
  <PresentationFormat>On-screen Show (16:9)</PresentationFormat>
  <Paragraphs>172</Paragraphs>
  <Slides>16</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Calibri</vt:lpstr>
      <vt:lpstr>Courier New</vt:lpstr>
      <vt:lpstr>Fira Code</vt:lpstr>
      <vt:lpstr>Montserrat</vt:lpstr>
      <vt:lpstr>Montserrat Bold</vt:lpstr>
      <vt:lpstr>Montserrat ExtraBold</vt:lpstr>
      <vt:lpstr>Montserrat Light</vt:lpstr>
      <vt:lpstr>Playfair Display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SkyLoyal Program</dc:title>
  <dc:subject>PptxGenJS Presentation</dc:subject>
  <dc:creator>Pramithi RK</dc:creator>
  <cp:lastModifiedBy>Pramithi RK</cp:lastModifiedBy>
  <cp:revision>9</cp:revision>
  <dcterms:created xsi:type="dcterms:W3CDTF">2026-04-29T19:02:46Z</dcterms:created>
  <dcterms:modified xsi:type="dcterms:W3CDTF">2026-04-29T20:31:18Z</dcterms:modified>
</cp:coreProperties>
</file>